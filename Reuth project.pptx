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23"/>
  </p:notesMasterIdLst>
  <p:sldIdLst>
    <p:sldId id="256" r:id="rId2"/>
    <p:sldId id="257" r:id="rId3"/>
    <p:sldId id="258" r:id="rId4"/>
    <p:sldId id="259" r:id="rId5"/>
    <p:sldId id="260" r:id="rId6"/>
    <p:sldId id="274" r:id="rId7"/>
    <p:sldId id="275" r:id="rId8"/>
    <p:sldId id="282" r:id="rId9"/>
    <p:sldId id="261" r:id="rId10"/>
    <p:sldId id="264" r:id="rId11"/>
    <p:sldId id="267" r:id="rId12"/>
    <p:sldId id="276" r:id="rId13"/>
    <p:sldId id="277" r:id="rId14"/>
    <p:sldId id="278" r:id="rId15"/>
    <p:sldId id="268" r:id="rId16"/>
    <p:sldId id="269" r:id="rId17"/>
    <p:sldId id="272" r:id="rId18"/>
    <p:sldId id="279" r:id="rId19"/>
    <p:sldId id="280" r:id="rId20"/>
    <p:sldId id="281" r:id="rId21"/>
    <p:sldId id="273" r:id="rId2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A8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BC14C-6EA0-42FF-87A6-FE2EBA57A9DE}" type="datetimeFigureOut">
              <a:rPr lang="LID4096" smtClean="0"/>
              <a:t>03/28/2026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73A2C-4E7D-42D7-85E5-2035993C1FC9}" type="slidenum">
              <a:rPr lang="LID4096" smtClean="0"/>
              <a:t>‹#›</a:t>
            </a:fld>
            <a:endParaRPr lang="LID4096"/>
          </a:p>
        </p:txBody>
      </p:sp>
    </p:spTree>
    <p:extLst>
      <p:ext uri="{BB962C8B-B14F-4D97-AF65-F5344CB8AC3E}">
        <p14:creationId xmlns:p14="http://schemas.microsoft.com/office/powerpoint/2010/main" val="25314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BC273A2C-4E7D-42D7-85E5-2035993C1FC9}" type="slidenum">
              <a:rPr lang="LID4096" smtClean="0"/>
              <a:t>15</a:t>
            </a:fld>
            <a:endParaRPr lang="LID4096"/>
          </a:p>
        </p:txBody>
      </p:sp>
    </p:spTree>
    <p:extLst>
      <p:ext uri="{BB962C8B-B14F-4D97-AF65-F5344CB8AC3E}">
        <p14:creationId xmlns:p14="http://schemas.microsoft.com/office/powerpoint/2010/main" val="1042115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99256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47104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058289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996052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3/28/2026</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13942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89293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92550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4604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395306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271435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3/28/2026</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96991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3/28/2026</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6433777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187D111-0A9D-421B-84EB-FC5811C3A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CEC7A2BB-E03E-436B-ABA5-3EBC8FB406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A6DC0849-A033-4B02-97FE-B41AD9A866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3ADCA7D-864A-49AD-B820-102F220EA7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957E947-1347-4EB3-89EB-DF85D94E26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8B5FAB9-675C-4906-A39C-BCFD689294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C524971-DA3C-4B74-A99D-95CECD50C9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DB683-BC6A-4522-82A5-C7457201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41560A9-0B55-472F-8261-6951E27C52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D874A14-7926-47E8-947C-904C98B0E0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3E5598F-2EAC-49C0-B77B-95438A8EDD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8993AC-196C-48AC-BCE3-3E71814D91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517F3CA-CF3E-4CD8-B001-2BDF09D767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37402-E5C4-470B-955F-F3A8867765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315EAA5-98ED-4276-880E-4E3789CEAA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F94794-653E-45B6-811B-8081788A0E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82DE38F-FC85-4274-8C84-8E75162E6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4AF14C3-798E-4C02-A6B4-165D003D72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53D4C15-2F93-446B-AF2D-82072EC01A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09026E7-4EC6-47AE-A989-318A5CA6BA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6DEDA5A-47AA-4ED0-897C-C0B1873B6F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061821F-242E-4E40-B305-9048634C0F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0734AE8-EEDD-4DCB-9723-087DC2ECC6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6DB511B-1563-4336-AFBB-D561A7C0B4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CEC4A9-4067-4D92-A28E-EE8152717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B783B25-A3A3-45C4-B04C-A116442505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31178CD-3DE0-4C42-811C-7BC881FBF6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926C508-8BE5-4ACF-A219-09B5D995B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58DEC2-3409-477A-84B4-A5D297FB01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E3E226-6EDA-4FC4-B670-9590DD5CE7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BC874A8-EE7F-4F92-AAEA-40B18D939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23D647B-0C43-4C02-9BD2-A01859FD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C6DE01B-DD35-4B52-A72E-57E60E2263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38D3CE6-C5AB-03B0-0AFC-5ACB894FBB56}"/>
              </a:ext>
            </a:extLst>
          </p:cNvPr>
          <p:cNvSpPr>
            <a:spLocks noGrp="1"/>
          </p:cNvSpPr>
          <p:nvPr>
            <p:ph type="ctrTitle"/>
          </p:nvPr>
        </p:nvSpPr>
        <p:spPr>
          <a:xfrm>
            <a:off x="448016" y="3731137"/>
            <a:ext cx="5402454" cy="2510445"/>
          </a:xfrm>
        </p:spPr>
        <p:txBody>
          <a:bodyPr>
            <a:normAutofit/>
          </a:bodyPr>
          <a:lstStyle/>
          <a:p>
            <a:pPr>
              <a:lnSpc>
                <a:spcPct val="90000"/>
              </a:lnSpc>
            </a:pPr>
            <a:r>
              <a:rPr lang="en-US" sz="4400" b="1" dirty="0">
                <a:latin typeface="Arial" panose="020B0604020202020204" pitchFamily="34" charset="0"/>
                <a:cs typeface="Arial" panose="020B0604020202020204" pitchFamily="34" charset="0"/>
              </a:rPr>
              <a:t>Ori Barel</a:t>
            </a:r>
            <a:br>
              <a:rPr lang="en-US" sz="3400" dirty="0">
                <a:latin typeface="Arial" panose="020B0604020202020204" pitchFamily="34" charset="0"/>
                <a:cs typeface="Arial" panose="020B0604020202020204" pitchFamily="34" charset="0"/>
              </a:rPr>
            </a:br>
            <a:endParaRPr lang="LID4096" sz="3400" dirty="0">
              <a:latin typeface="Arial" panose="020B0604020202020204" pitchFamily="34" charset="0"/>
              <a:cs typeface="Arial" panose="020B0604020202020204" pitchFamily="34" charset="0"/>
            </a:endParaRPr>
          </a:p>
        </p:txBody>
      </p:sp>
      <p:sp>
        <p:nvSpPr>
          <p:cNvPr id="43" name="Right Triangle 42">
            <a:extLst>
              <a:ext uri="{FF2B5EF4-FFF2-40B4-BE49-F238E27FC236}">
                <a16:creationId xmlns:a16="http://schemas.microsoft.com/office/drawing/2014/main" id="{218D3B53-4071-48E8-9CB1-4566DAFA0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3E931D1F-E5A5-0707-6E6A-7899284F355B}"/>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60504460-6575-3767-FBE1-414B51B0A72D}"/>
              </a:ext>
            </a:extLst>
          </p:cNvPr>
          <p:cNvSpPr txBox="1">
            <a:spLocks/>
          </p:cNvSpPr>
          <p:nvPr/>
        </p:nvSpPr>
        <p:spPr>
          <a:xfrm>
            <a:off x="263462" y="255303"/>
            <a:ext cx="6204925" cy="2871559"/>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4400" b="1" dirty="0">
                <a:latin typeface="Arial" panose="020B0604020202020204" pitchFamily="34" charset="0"/>
                <a:cs typeface="Arial" panose="020B0604020202020204" pitchFamily="34" charset="0"/>
              </a:rPr>
              <a:t>Pressure </a:t>
            </a:r>
            <a:r>
              <a:rPr lang="en-US" b="1" dirty="0">
                <a:latin typeface="Arial" panose="020B0604020202020204" pitchFamily="34" charset="0"/>
                <a:cs typeface="Arial" panose="020B0604020202020204" pitchFamily="34" charset="0"/>
              </a:rPr>
              <a:t>wound</a:t>
            </a:r>
          </a:p>
          <a:p>
            <a:pPr>
              <a:lnSpc>
                <a:spcPct val="90000"/>
              </a:lnSpc>
            </a:pPr>
            <a:r>
              <a:rPr lang="en-US" sz="4400" b="1" dirty="0">
                <a:latin typeface="Arial" panose="020B0604020202020204" pitchFamily="34" charset="0"/>
                <a:cs typeface="Arial" panose="020B0604020202020204" pitchFamily="34" charset="0"/>
              </a:rPr>
              <a:t>Segmentation</a:t>
            </a:r>
            <a:r>
              <a:rPr lang="he-IL" sz="4400" b="1" dirty="0">
                <a:latin typeface="Arial" panose="020B0604020202020204" pitchFamily="34" charset="0"/>
                <a:cs typeface="Arial" panose="020B0604020202020204" pitchFamily="34" charset="0"/>
              </a:rPr>
              <a:t> -</a:t>
            </a:r>
            <a:r>
              <a:rPr lang="en-US" sz="4400" b="1" dirty="0">
                <a:latin typeface="Arial" panose="020B0604020202020204" pitchFamily="34" charset="0"/>
                <a:cs typeface="Arial" panose="020B0604020202020204" pitchFamily="34" charset="0"/>
              </a:rPr>
              <a:t>Reuth Medical Center</a:t>
            </a:r>
            <a:br>
              <a:rPr lang="en-US" sz="3400" dirty="0">
                <a:latin typeface="Arial" panose="020B0604020202020204" pitchFamily="34" charset="0"/>
                <a:cs typeface="Arial" panose="020B0604020202020204" pitchFamily="34" charset="0"/>
              </a:rPr>
            </a:br>
            <a:endParaRPr lang="LID4096" sz="3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3339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167C4C-6CDA-8721-532F-7FFABC6186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3515E1-DE7C-5B98-1BBA-AB1C890B15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F4309083-663D-A854-5005-534B513891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052424AC-EBEE-4314-B441-F01877FA57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BAEA591-D405-91B1-CA70-C03886CB3A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3EA19A4-74BD-C381-D637-9E5D005554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D56214-EF90-D763-9DEE-E390BCF0EC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2C3238-9355-144D-A1BB-769F9D72BC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A1D99E2-3A09-3283-3171-50F839A6AF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2CB2F9-88E5-48C4-E297-AD47FCE8A8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8B31A4A-AEAA-A5A1-1CC4-EB26DCE7DE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A01E30-232E-F0D6-6C54-F56187D02A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E3EC993-2D26-84DA-18D5-CAD731E9E9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A35D8F3-A267-98D8-417B-E2F1DF381D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270DE6-95CD-6149-426A-B407C3BD7B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4A1C4E-1FD0-5056-B937-61556D8454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B2C873B-56D9-9EE1-6EEA-7E334444FB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36A721-C376-D565-CA66-DEE5D3234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0B3D741-9E0F-5E6C-E277-405573E639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2B8F5EC-1902-B208-7D59-EE6FB0780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4A08728-A872-A1F3-B88E-96F1D9136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72AA57-6352-083C-87D6-A7E3015757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27AB8BD-6D1E-B4E2-FACB-49B064178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ADDBE84-F6A8-FF7A-12E5-A21F6C933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305598-9BFC-5395-2BE2-F4D03423E4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B1854-A39E-1A88-776A-3E4DD5CBB1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75F270E-C6EC-E0A1-2114-22FC59FFD8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A86CBFB-3B86-16EF-E4EC-162F8CBDCE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A39653D-B763-9DCC-57D2-15646F7C1B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6DD4691-3533-06B9-D695-E178983507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251E7EA-2F1E-E3E5-39B1-3CB89D6502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807833F-8CFD-255C-5CCD-0A744D8DB1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EB5919A-B276-95A3-F9E5-3DD1A1707E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19CFF27-BF2E-17CA-FD3B-5B362B24F6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3527A1A-A5D3-207C-BAE5-9F3E0B51D28F}"/>
              </a:ext>
            </a:extLst>
          </p:cNvPr>
          <p:cNvSpPr>
            <a:spLocks noGrp="1"/>
          </p:cNvSpPr>
          <p:nvPr>
            <p:ph type="ctrTitle"/>
          </p:nvPr>
        </p:nvSpPr>
        <p:spPr>
          <a:xfrm>
            <a:off x="223371" y="3274114"/>
            <a:ext cx="5402454" cy="2783436"/>
          </a:xfrm>
        </p:spPr>
        <p:txBody>
          <a:bodyPr>
            <a:noAutofit/>
          </a:bodyPr>
          <a:lstStyle/>
          <a:p>
            <a:pPr>
              <a:lnSpc>
                <a:spcPct val="90000"/>
              </a:lnSpc>
            </a:pPr>
            <a:r>
              <a:rPr lang="en-US" sz="2400" dirty="0">
                <a:latin typeface="Arial" panose="020B0604020202020204" pitchFamily="34" charset="0"/>
                <a:cs typeface="Arial" panose="020B0604020202020204" pitchFamily="34" charset="0"/>
              </a:rPr>
              <a:t>Throughout this project, we develop a </a:t>
            </a:r>
            <a:r>
              <a:rPr lang="en-US" sz="2400" b="1" dirty="0">
                <a:latin typeface="Arial" panose="020B0604020202020204" pitchFamily="34" charset="0"/>
                <a:cs typeface="Arial" panose="020B0604020202020204" pitchFamily="34" charset="0"/>
              </a:rPr>
              <a:t>clinical decision-support pipeline </a:t>
            </a:r>
            <a:r>
              <a:rPr lang="en-US" sz="2400" dirty="0">
                <a:latin typeface="Arial" panose="020B0604020202020204" pitchFamily="34" charset="0"/>
                <a:cs typeface="Arial" panose="020B0604020202020204" pitchFamily="34" charset="0"/>
              </a:rPr>
              <a:t>by combining </a:t>
            </a:r>
            <a:r>
              <a:rPr lang="en-US" sz="2400" b="1" dirty="0">
                <a:latin typeface="Arial" panose="020B0604020202020204" pitchFamily="34" charset="0"/>
                <a:cs typeface="Arial" panose="020B0604020202020204" pitchFamily="34" charset="0"/>
              </a:rPr>
              <a:t>deep learning </a:t>
            </a:r>
            <a:r>
              <a:rPr lang="en-US" sz="2400" dirty="0">
                <a:latin typeface="Arial" panose="020B0604020202020204" pitchFamily="34" charset="0"/>
                <a:cs typeface="Arial" panose="020B0604020202020204" pitchFamily="34" charset="0"/>
              </a:rPr>
              <a:t>for wound image analysis with structured data modeling, aiming to enable automated and clinically meaningful wound assessment at Reuth Medical Center.</a:t>
            </a:r>
            <a:endParaRPr lang="LID4096" sz="1800" dirty="0">
              <a:latin typeface="Arial" panose="020B0604020202020204" pitchFamily="34" charset="0"/>
              <a:cs typeface="Arial" panose="020B0604020202020204" pitchFamily="34" charset="0"/>
            </a:endParaRPr>
          </a:p>
        </p:txBody>
      </p:sp>
      <p:sp>
        <p:nvSpPr>
          <p:cNvPr id="43" name="Right Triangle 42">
            <a:extLst>
              <a:ext uri="{FF2B5EF4-FFF2-40B4-BE49-F238E27FC236}">
                <a16:creationId xmlns:a16="http://schemas.microsoft.com/office/drawing/2014/main" id="{2602664B-33E2-CC82-9758-706F680B2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682F1BD6-2D69-1D62-17A8-ADA4E9CC571E}"/>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D5DE3DBD-CDF4-FA68-7556-06BFB017F666}"/>
              </a:ext>
            </a:extLst>
          </p:cNvPr>
          <p:cNvSpPr txBox="1">
            <a:spLocks/>
          </p:cNvSpPr>
          <p:nvPr/>
        </p:nvSpPr>
        <p:spPr>
          <a:xfrm>
            <a:off x="368444" y="222338"/>
            <a:ext cx="5402454" cy="2510445"/>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4400" b="1" dirty="0">
                <a:latin typeface="Arial" panose="020B0604020202020204" pitchFamily="34" charset="0"/>
                <a:cs typeface="Arial" panose="020B0604020202020204" pitchFamily="34" charset="0"/>
              </a:rPr>
              <a:t>Project Overview</a:t>
            </a:r>
          </a:p>
          <a:p>
            <a:pPr>
              <a:lnSpc>
                <a:spcPct val="90000"/>
              </a:lnSpc>
            </a:pPr>
            <a:br>
              <a:rPr lang="en-US" sz="3400" dirty="0"/>
            </a:br>
            <a:endParaRPr lang="LID4096" sz="3400" dirty="0"/>
          </a:p>
        </p:txBody>
      </p:sp>
    </p:spTree>
    <p:extLst>
      <p:ext uri="{BB962C8B-B14F-4D97-AF65-F5344CB8AC3E}">
        <p14:creationId xmlns:p14="http://schemas.microsoft.com/office/powerpoint/2010/main" val="4105227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F77A29-4918-5487-621F-5F14DB3261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45E76F-14BA-C656-F4EC-921780EC3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7948F1C9-F4B8-1930-9458-4F1E0FAA71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DD4EAF26-2AFD-98A6-4833-FE582D0590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8B17099-E77E-B6CE-10AB-328B466673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3503F63-3BDC-85AD-0892-2C41365F8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39DAC1C-6F50-FA9C-4F47-591866AE16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76C5B27-6182-EBC7-12F6-FC16059A51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B0099D2-D346-9A8B-94F0-878FA38207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03331AB-481D-0C5B-9DC9-2C7C667ABA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E9B7A81-710A-7A7C-49DA-AEBE88DACE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DB4CDDA-F59A-E370-7A79-BEA3C99721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920029C-897D-8738-F626-B0A3EC3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2059450-5A30-DA29-D338-5F0CC6B879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CDF659-5127-B465-5179-23840CE419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93F08B-6067-C200-8749-70FD327AC7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62CC6D4-814E-3452-EE03-4C3B4BE6D1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F1467A3-9ED3-22FA-3347-9F4E411DDD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341B1DA-F283-3A69-4861-3453DCE6FE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678BCE1-E960-2F69-F8F7-DAD1B26DA2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E9651D6-C05D-EC10-89E3-EB774ABD26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0BB3CD-59AA-AAC4-3D77-4B07F812E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7A27A96-AF83-D8B8-410B-D9628DE12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70ADA54-0CAC-AB0F-0408-307A0C1923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F8B4592-641D-733F-0AA0-C1574B4511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E2DEE1-8C36-85E1-C1E3-F7C3C72AA0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A068FA1-B3B0-CCCA-883C-B1F841DA35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DC83BD4-A7DE-9BA1-D6C6-481F6A7E8C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9C4045E-AED2-9FEF-9973-49DC2D23F4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AC30068-9DDD-B13B-2576-5F1F927BAA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F384460-0564-199A-9EE2-BF4B12505C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CEDF8AD-41E1-967E-2E22-9DC5B31748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F2E1667-9BB6-74A2-F46D-94BC9FD931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30ABB51-B8B5-6772-5F59-FB2F69E5C7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0FE04CB0-B27F-C8F9-0EBC-854D32D7C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54C45D2B-3030-22F2-7782-3220F9BAB809}"/>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F97D03FF-D467-F357-9851-717E6648407D}"/>
              </a:ext>
            </a:extLst>
          </p:cNvPr>
          <p:cNvSpPr txBox="1">
            <a:spLocks/>
          </p:cNvSpPr>
          <p:nvPr/>
        </p:nvSpPr>
        <p:spPr>
          <a:xfrm>
            <a:off x="368444" y="-170308"/>
            <a:ext cx="5402454" cy="2510445"/>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4400" b="1" dirty="0">
                <a:latin typeface="Arial" panose="020B0604020202020204" pitchFamily="34" charset="0"/>
                <a:cs typeface="Arial" panose="020B0604020202020204" pitchFamily="34" charset="0"/>
              </a:rPr>
              <a:t>Methodology</a:t>
            </a:r>
            <a:br>
              <a:rPr lang="en-US" sz="3400" b="1" dirty="0">
                <a:latin typeface="Arial" panose="020B0604020202020204" pitchFamily="34" charset="0"/>
                <a:cs typeface="Arial" panose="020B0604020202020204" pitchFamily="34" charset="0"/>
              </a:rPr>
            </a:br>
            <a:endParaRPr lang="LID4096" sz="3400" b="1" dirty="0">
              <a:latin typeface="Arial" panose="020B0604020202020204" pitchFamily="34" charset="0"/>
              <a:cs typeface="Arial" panose="020B0604020202020204" pitchFamily="34" charset="0"/>
            </a:endParaRPr>
          </a:p>
        </p:txBody>
      </p:sp>
      <p:sp>
        <p:nvSpPr>
          <p:cNvPr id="6" name="Rectangle 2">
            <a:extLst>
              <a:ext uri="{FF2B5EF4-FFF2-40B4-BE49-F238E27FC236}">
                <a16:creationId xmlns:a16="http://schemas.microsoft.com/office/drawing/2014/main" id="{30E6E3B3-8AD9-1D01-1730-28F53E91F58A}"/>
              </a:ext>
            </a:extLst>
          </p:cNvPr>
          <p:cNvSpPr>
            <a:spLocks noGrp="1" noChangeArrowheads="1"/>
          </p:cNvSpPr>
          <p:nvPr>
            <p:ph type="ctrTitle"/>
          </p:nvPr>
        </p:nvSpPr>
        <p:spPr bwMode="auto">
          <a:xfrm>
            <a:off x="116592" y="3083204"/>
            <a:ext cx="595663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LID4096" sz="1800" b="1" i="0" u="none" strike="noStrike" cap="none" normalizeH="0" baseline="0" dirty="0">
                <a:ln>
                  <a:noFill/>
                </a:ln>
                <a:solidFill>
                  <a:schemeClr val="tx1"/>
                </a:solidFill>
                <a:effectLst/>
                <a:latin typeface="Arial" panose="020B0604020202020204" pitchFamily="34" charset="0"/>
              </a:rPr>
              <a:t> </a:t>
            </a:r>
            <a:r>
              <a:rPr kumimoji="0" lang="LID4096" altLang="LID4096" sz="2000" b="1" i="0" u="none" strike="noStrike" cap="none" normalizeH="0" baseline="0" dirty="0">
                <a:ln>
                  <a:noFill/>
                </a:ln>
                <a:solidFill>
                  <a:schemeClr val="tx1"/>
                </a:solidFill>
                <a:effectLst/>
                <a:latin typeface="Arial" panose="020B0604020202020204" pitchFamily="34" charset="0"/>
              </a:rPr>
              <a:t>Image De-identification</a:t>
            </a:r>
            <a:r>
              <a:rPr kumimoji="0" lang="en-US" altLang="LID4096" sz="2000" b="1" i="0" u="none" strike="noStrike" cap="none" normalizeH="0" baseline="0" dirty="0">
                <a:ln>
                  <a:noFill/>
                </a:ln>
                <a:solidFill>
                  <a:schemeClr val="tx1"/>
                </a:solidFill>
                <a:effectLst/>
                <a:latin typeface="Arial" panose="020B0604020202020204" pitchFamily="34" charset="0"/>
              </a:rPr>
              <a:t> </a:t>
            </a:r>
            <a:r>
              <a:rPr kumimoji="0" lang="he-IL" altLang="LID4096" sz="2000" b="1" i="0" u="none" strike="noStrike" cap="none" normalizeH="0" baseline="0" dirty="0">
                <a:ln>
                  <a:noFill/>
                </a:ln>
                <a:solidFill>
                  <a:schemeClr val="tx1"/>
                </a:solidFill>
                <a:effectLst/>
                <a:latin typeface="Arial" panose="020B0604020202020204" pitchFamily="34" charset="0"/>
              </a:rPr>
              <a:t>-</a:t>
            </a:r>
            <a:r>
              <a:rPr kumimoji="0" lang="LID4096" altLang="LID4096" sz="2000" b="0" i="0" u="none" strike="noStrike" cap="none" normalizeH="0" baseline="0" dirty="0">
                <a:ln>
                  <a:noFill/>
                </a:ln>
                <a:solidFill>
                  <a:schemeClr val="tx1"/>
                </a:solidFill>
                <a:effectLst/>
                <a:latin typeface="Arial" panose="020B0604020202020204" pitchFamily="34" charset="0"/>
              </a:rPr>
              <a:t> to ensure full patient privacy</a:t>
            </a:r>
            <a:br>
              <a:rPr kumimoji="0" lang="en-US" altLang="LID4096" sz="2000" b="0" i="0" u="none" strike="noStrike" cap="none" normalizeH="0" baseline="0" dirty="0">
                <a:ln>
                  <a:noFill/>
                </a:ln>
                <a:solidFill>
                  <a:schemeClr val="tx1"/>
                </a:solidFill>
                <a:effectLst/>
                <a:latin typeface="Arial" panose="020B0604020202020204" pitchFamily="34" charset="0"/>
              </a:rPr>
            </a:br>
            <a:endParaRPr kumimoji="0" lang="LID4096" altLang="LID4096"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LID4096" sz="2000" b="1" i="0" u="none" strike="noStrike" cap="none" normalizeH="0" baseline="0" dirty="0">
                <a:ln>
                  <a:noFill/>
                </a:ln>
                <a:solidFill>
                  <a:schemeClr val="tx1"/>
                </a:solidFill>
                <a:effectLst/>
                <a:latin typeface="Arial" panose="020B0604020202020204" pitchFamily="34" charset="0"/>
              </a:rPr>
              <a:t> </a:t>
            </a:r>
            <a:r>
              <a:rPr kumimoji="0" lang="LID4096" altLang="LID4096" sz="2000" b="1" i="0" u="none" strike="noStrike" cap="none" normalizeH="0" baseline="0" dirty="0">
                <a:ln>
                  <a:noFill/>
                </a:ln>
                <a:solidFill>
                  <a:schemeClr val="tx1"/>
                </a:solidFill>
                <a:effectLst/>
                <a:latin typeface="Arial" panose="020B0604020202020204" pitchFamily="34" charset="0"/>
              </a:rPr>
              <a:t>Automatic Mask Generation</a:t>
            </a:r>
            <a:r>
              <a:rPr kumimoji="0" lang="en-US" altLang="LID4096" sz="2000" b="1" i="0" u="none" strike="noStrike" cap="none" normalizeH="0" baseline="0" dirty="0">
                <a:ln>
                  <a:noFill/>
                </a:ln>
                <a:solidFill>
                  <a:schemeClr val="tx1"/>
                </a:solidFill>
                <a:effectLst/>
                <a:latin typeface="Arial" panose="020B0604020202020204" pitchFamily="34" charset="0"/>
              </a:rPr>
              <a:t> -</a:t>
            </a:r>
            <a:r>
              <a:rPr kumimoji="0" lang="LID4096" altLang="LID4096" sz="2000" b="0" i="0" u="none" strike="noStrike" cap="none" normalizeH="0" baseline="0" dirty="0">
                <a:ln>
                  <a:noFill/>
                </a:ln>
                <a:solidFill>
                  <a:schemeClr val="tx1"/>
                </a:solidFill>
                <a:effectLst/>
                <a:latin typeface="Arial" panose="020B0604020202020204" pitchFamily="34" charset="0"/>
              </a:rPr>
              <a:t> using a segmentation algorithm trained on manual labels</a:t>
            </a:r>
            <a:br>
              <a:rPr kumimoji="0" lang="en-US" altLang="LID4096" sz="2000" b="0" i="0" u="none" strike="noStrike" cap="none" normalizeH="0" baseline="0" dirty="0">
                <a:ln>
                  <a:noFill/>
                </a:ln>
                <a:solidFill>
                  <a:schemeClr val="tx1"/>
                </a:solidFill>
                <a:effectLst/>
                <a:latin typeface="Arial" panose="020B0604020202020204" pitchFamily="34" charset="0"/>
              </a:rPr>
            </a:br>
            <a:endParaRPr kumimoji="0" lang="LID4096" altLang="LID4096" sz="2000" b="0" i="0" u="none" strike="noStrike" cap="none" normalizeH="0" baseline="0" dirty="0">
              <a:ln>
                <a:noFill/>
              </a:ln>
              <a:solidFill>
                <a:schemeClr val="tx1"/>
              </a:solidFill>
              <a:effectLst/>
              <a:latin typeface="Arial" panose="020B0604020202020204" pitchFamily="34" charset="0"/>
            </a:endParaRPr>
          </a:p>
          <a:p>
            <a:pPr lvl="0" eaLnBrk="0" fontAlgn="base" hangingPunct="0">
              <a:spcAft>
                <a:spcPct val="0"/>
              </a:spcAft>
              <a:buFontTx/>
              <a:buChar char="•"/>
            </a:pPr>
            <a:r>
              <a:rPr kumimoji="0" lang="en-US" altLang="LID4096" sz="2000" b="1" i="0" u="none" strike="noStrike" cap="none" normalizeH="0" baseline="0" dirty="0">
                <a:ln>
                  <a:noFill/>
                </a:ln>
                <a:solidFill>
                  <a:schemeClr val="tx1"/>
                </a:solidFill>
                <a:effectLst/>
                <a:latin typeface="Arial" panose="020B0604020202020204" pitchFamily="34" charset="0"/>
              </a:rPr>
              <a:t> </a:t>
            </a:r>
            <a:r>
              <a:rPr lang="en-US" sz="2000" b="1" dirty="0">
                <a:latin typeface="Arial" panose="020B0604020202020204" pitchFamily="34" charset="0"/>
                <a:cs typeface="Arial" panose="020B0604020202020204" pitchFamily="34" charset="0"/>
              </a:rPr>
              <a:t>Automated Wound Analysis from Images </a:t>
            </a:r>
            <a:r>
              <a:rPr kumimoji="0" lang="en-US" altLang="LID4096" sz="2000" b="1" i="0" u="none" strike="noStrike" cap="none" normalizeH="0" baseline="0" dirty="0">
                <a:ln>
                  <a:noFill/>
                </a:ln>
                <a:solidFill>
                  <a:schemeClr val="tx1"/>
                </a:solidFill>
                <a:effectLst/>
                <a:latin typeface="Arial" panose="020B0604020202020204" pitchFamily="34" charset="0"/>
              </a:rPr>
              <a:t>-</a:t>
            </a:r>
            <a:r>
              <a:rPr kumimoji="0" lang="LID4096" altLang="LID4096" sz="2000" b="0" i="0" u="none" strike="noStrike" cap="none" normalizeH="0" baseline="0" dirty="0">
                <a:ln>
                  <a:noFill/>
                </a:ln>
                <a:solidFill>
                  <a:schemeClr val="tx1"/>
                </a:solidFill>
                <a:effectLst/>
                <a:latin typeface="Arial" panose="020B0604020202020204" pitchFamily="34" charset="0"/>
              </a:rPr>
              <a:t> linking medical records with corresponding wound images</a:t>
            </a:r>
            <a:br>
              <a:rPr kumimoji="0" lang="en-US" altLang="LID4096" sz="2000" b="0" i="0" u="none" strike="noStrike" cap="none" normalizeH="0" baseline="0" dirty="0">
                <a:ln>
                  <a:noFill/>
                </a:ln>
                <a:solidFill>
                  <a:schemeClr val="tx1"/>
                </a:solidFill>
                <a:effectLst/>
                <a:latin typeface="Arial" panose="020B0604020202020204" pitchFamily="34" charset="0"/>
              </a:rPr>
            </a:br>
            <a:endParaRPr kumimoji="0" lang="LID4096" altLang="LID4096"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LID4096" sz="2000" b="1" i="0" u="none" strike="noStrike" cap="none" normalizeH="0" baseline="0" dirty="0">
                <a:ln>
                  <a:noFill/>
                </a:ln>
                <a:solidFill>
                  <a:schemeClr val="tx1"/>
                </a:solidFill>
                <a:effectLst/>
                <a:latin typeface="Arial" panose="020B0604020202020204" pitchFamily="34" charset="0"/>
              </a:rPr>
              <a:t> </a:t>
            </a:r>
            <a:r>
              <a:rPr kumimoji="0" lang="LID4096" altLang="LID4096" sz="2000" b="1" i="0" u="none" strike="noStrike" cap="none" normalizeH="0" baseline="0" dirty="0">
                <a:ln>
                  <a:noFill/>
                </a:ln>
                <a:solidFill>
                  <a:schemeClr val="tx1"/>
                </a:solidFill>
                <a:effectLst/>
                <a:latin typeface="Arial" panose="020B0604020202020204" pitchFamily="34" charset="0"/>
              </a:rPr>
              <a:t>Application Deployment</a:t>
            </a:r>
            <a:r>
              <a:rPr kumimoji="0" lang="en-US" altLang="LID4096" sz="2000" b="1" i="0" u="none" strike="noStrike" cap="none" normalizeH="0" baseline="0" dirty="0">
                <a:ln>
                  <a:noFill/>
                </a:ln>
                <a:solidFill>
                  <a:schemeClr val="tx1"/>
                </a:solidFill>
                <a:effectLst/>
                <a:latin typeface="Arial" panose="020B0604020202020204" pitchFamily="34" charset="0"/>
              </a:rPr>
              <a:t> -</a:t>
            </a:r>
            <a:r>
              <a:rPr kumimoji="0" lang="LID4096" altLang="LID4096" sz="2000" b="0" i="0" u="none" strike="noStrike" cap="none" normalizeH="0" baseline="0" dirty="0">
                <a:ln>
                  <a:noFill/>
                </a:ln>
                <a:solidFill>
                  <a:schemeClr val="tx1"/>
                </a:solidFill>
                <a:effectLst/>
                <a:latin typeface="Arial" panose="020B0604020202020204" pitchFamily="34" charset="0"/>
              </a:rPr>
              <a:t> for use within Reuth Medical Center</a:t>
            </a:r>
          </a:p>
        </p:txBody>
      </p:sp>
    </p:spTree>
    <p:extLst>
      <p:ext uri="{BB962C8B-B14F-4D97-AF65-F5344CB8AC3E}">
        <p14:creationId xmlns:p14="http://schemas.microsoft.com/office/powerpoint/2010/main" val="1332553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53C69C-8FED-7F58-6273-D5D1751D24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84F5F63-D2E6-6A8C-45D0-B5CDBF2AF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96C1AF60-D480-48FC-EE9B-E190203D11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8423DD37-671D-6AFB-C1A9-01EBEFA844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35985C6-97F5-32BB-0EE6-9F2D3376D7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330EE28-FD2D-9A9A-783F-AEAD7D54F5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139049-99CE-EBF9-C484-C775AB996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6C7043-5602-5DE3-4CFC-946DC97E67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8169F3-58F8-4816-BC60-0E3823C13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8407126-DD21-B231-0EDF-A2CB313B35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74DFBDC-F9B0-BEE7-093E-425D54E6CE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488FBB8-5C55-3948-6A84-F449799B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6199EC6-9259-EFF3-5EC6-FAE78E8007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91EC047-C01A-7542-27EE-360E1593FD1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77D05B-70B9-0FD2-DCB3-202411C023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F2D13EF-9E60-12A8-EBE7-D522BAB2AD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A4E17E-C358-3576-1D82-E347F5D70D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5DC81D4-F968-E345-1BA2-DEFB42F699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38C629-9D8E-FE81-BEC8-853AB7A7B3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4A3377-6C11-602B-EC3B-780737DACE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6536CBE-F4C1-5B9C-CF61-635BFAC84C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518727-660D-C9CA-E8F5-30278511F8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9AE3505-23F9-BF88-8850-FC782F13BF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5D54B2A-3434-24B8-9AF5-ED91547B5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201AD85-6712-2510-F6C9-C5C204BFDF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5BE5571-1184-A603-B1A9-F37045B260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2377DB0-047A-FDFC-27A6-00D714C2DF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D9378B0-F65B-9F4A-A972-9CC7DA32E7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01B1B8-1978-6E4F-02CA-736E06CDEA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D37AEE8-181C-49AA-3394-F0E7EAF2DB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43BEFF-B09A-0513-B3EB-A4824A6CE5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AB768B5-D668-C935-41DD-57B9BC1880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CD87185-69CB-EA80-DA7D-0852ABCF2B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FC089ED-E19A-6299-92BF-850D0DD86E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39EC6B-C766-CAB5-11E5-CC5DEC286481}"/>
              </a:ext>
            </a:extLst>
          </p:cNvPr>
          <p:cNvSpPr>
            <a:spLocks noGrp="1"/>
          </p:cNvSpPr>
          <p:nvPr>
            <p:ph type="ctrTitle"/>
          </p:nvPr>
        </p:nvSpPr>
        <p:spPr>
          <a:xfrm>
            <a:off x="81347" y="2877138"/>
            <a:ext cx="5819018" cy="2787345"/>
          </a:xfrm>
        </p:spPr>
        <p:txBody>
          <a:bodyPr>
            <a:noAutofit/>
          </a:bodyPr>
          <a:lstStyle/>
          <a:p>
            <a:r>
              <a:rPr lang="en-US" sz="2400" dirty="0">
                <a:latin typeface="Arial" panose="020B0604020202020204" pitchFamily="34" charset="0"/>
                <a:cs typeface="Arial" panose="020B0604020202020204" pitchFamily="34" charset="0"/>
              </a:rPr>
              <a:t>To automatically detect and blur sensitive patient information, we developed an image</a:t>
            </a:r>
            <a:r>
              <a:rPr lang="he-IL" sz="2400"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segmentation model based on a </a:t>
            </a:r>
            <a:r>
              <a:rPr lang="en-US" sz="2400" b="1" dirty="0" err="1">
                <a:latin typeface="Arial" panose="020B0604020202020204" pitchFamily="34" charset="0"/>
                <a:cs typeface="Arial" panose="020B0604020202020204" pitchFamily="34" charset="0"/>
              </a:rPr>
              <a:t>UNet</a:t>
            </a:r>
            <a:r>
              <a:rPr lang="en-US" sz="2400" b="1" dirty="0">
                <a:latin typeface="Arial" panose="020B0604020202020204" pitchFamily="34" charset="0"/>
                <a:cs typeface="Arial" panose="020B0604020202020204" pitchFamily="34" charset="0"/>
              </a:rPr>
              <a:t> architecture</a:t>
            </a:r>
            <a:r>
              <a:rPr lang="en-US" sz="2400" dirty="0">
                <a:latin typeface="Arial" panose="020B0604020202020204" pitchFamily="34" charset="0"/>
                <a:cs typeface="Arial" panose="020B0604020202020204" pitchFamily="34" charset="0"/>
              </a:rPr>
              <a:t> </a:t>
            </a:r>
            <a:r>
              <a:rPr lang="he-IL" sz="2400"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 widely used convolutional neural network designed for precise pixel</a:t>
            </a:r>
            <a:r>
              <a:rPr lang="he-IL" sz="2400"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level predictions.</a:t>
            </a:r>
          </a:p>
        </p:txBody>
      </p:sp>
      <p:sp>
        <p:nvSpPr>
          <p:cNvPr id="43" name="Right Triangle 42">
            <a:extLst>
              <a:ext uri="{FF2B5EF4-FFF2-40B4-BE49-F238E27FC236}">
                <a16:creationId xmlns:a16="http://schemas.microsoft.com/office/drawing/2014/main" id="{EF72766C-792D-3399-6111-33DB80A50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5A7943C2-9C2E-921A-348B-E312C90951EE}"/>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18FDC88F-1F24-848A-433D-6419FECC4836}"/>
              </a:ext>
            </a:extLst>
          </p:cNvPr>
          <p:cNvSpPr txBox="1">
            <a:spLocks/>
          </p:cNvSpPr>
          <p:nvPr/>
        </p:nvSpPr>
        <p:spPr>
          <a:xfrm>
            <a:off x="198692" y="78419"/>
            <a:ext cx="5239604" cy="1367855"/>
          </a:xfrm>
          <a:prstGeom prst="rect">
            <a:avLst/>
          </a:prstGeom>
        </p:spPr>
        <p:txBody>
          <a:bodyPr vert="horz" lIns="91440" tIns="45720" rIns="91440" bIns="45720" rtlCol="0" anchor="b">
            <a:normAutofit fontScale="900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LID4096" altLang="LID4096" sz="4000" b="1" dirty="0">
                <a:solidFill>
                  <a:schemeClr val="tx1"/>
                </a:solidFill>
                <a:latin typeface="Arial" panose="020B0604020202020204" pitchFamily="34" charset="0"/>
              </a:rPr>
              <a:t>Image De-identification</a:t>
            </a:r>
            <a:br>
              <a:rPr lang="en-US" sz="3200" dirty="0"/>
            </a:br>
            <a:endParaRPr lang="LID4096" sz="3200" dirty="0"/>
          </a:p>
        </p:txBody>
      </p:sp>
    </p:spTree>
    <p:extLst>
      <p:ext uri="{BB962C8B-B14F-4D97-AF65-F5344CB8AC3E}">
        <p14:creationId xmlns:p14="http://schemas.microsoft.com/office/powerpoint/2010/main" val="282440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C69838-E871-5E80-28FD-765981CA301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B9DBC7-A9CC-C44A-C20A-76425515C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70BC2088-E858-A5AA-917A-5055FE9939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4A41C8E7-D79C-4F97-AF7F-577C251E0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0A24A9B-5F6B-2E8F-33C8-06D7D02C27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0835F9-3D76-7CF4-0752-79F8F083DB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B9F2818-6391-1B65-E1CF-A11ED8A7FF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A991B9B-03F0-4E0B-6E84-EEC3373215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3D3105-575C-98C4-98FC-F119C1ECF3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85BCA2-1E12-10E2-F803-831DB11381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7742052-660E-3838-39C3-0849EC92C4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AC93AFA-B9C6-0AF8-1CE3-6C8C881328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5E8C7D-4482-75F3-AE0B-B95B5C324D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9CEC08-7BD5-8045-884B-CFD2066013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B567B07-7302-CA51-479B-32D0CC2BDE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B2C742A-B151-9384-FFD6-13A3414AD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662118D-DA0F-EF77-B843-3F802B515C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5CA867E-2BB1-A862-6F37-F61E316BE7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6728706-1646-8509-928C-F30B8B2158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A4294DD-FB1B-930E-6C03-AAD3D7F26F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4D5E55C-1161-8C8B-EF5B-C349A9665F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68AE3FC-6E4B-F212-1127-6CCBA6782B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914CE90-7601-9CAB-25C7-E0EB397202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8A42E2C-DB9D-99AA-D49A-FAE341EB6D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3FEA9FB-703E-4D07-43D6-90F6E03EB9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5FB242E-8122-E821-BCB5-8321EE7E96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D20A09A-782E-31FB-AC03-D534716967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B2951F7-3B42-1934-D7F1-CC89304E46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3B16E8F-6BD2-9A72-C6F5-F2F41A4DE6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BD7C2EA-05F0-D21A-066D-514B0F3E3A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8C41919-D93D-2F3F-C90F-8D0A9830B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9E535C2-F545-5ECC-0EBB-922354258E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B1F72F3-65EB-B329-A277-0829567C6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2E45680-4505-CBD7-35A2-EB2E87EC18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F3FB993E-B3B7-4BAB-5C00-30DACD7B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FAE09AE5-0B2F-9FB6-CDC6-313F0CE466B2}"/>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2CD884B5-E89F-FC5D-09DD-04DC8101B34F}"/>
              </a:ext>
            </a:extLst>
          </p:cNvPr>
          <p:cNvSpPr txBox="1">
            <a:spLocks/>
          </p:cNvSpPr>
          <p:nvPr/>
        </p:nvSpPr>
        <p:spPr>
          <a:xfrm>
            <a:off x="368444" y="-170308"/>
            <a:ext cx="4368148" cy="1935359"/>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4400" b="1" dirty="0">
                <a:latin typeface="Arial" panose="020B0604020202020204" pitchFamily="34" charset="0"/>
                <a:cs typeface="Arial" panose="020B0604020202020204" pitchFamily="34" charset="0"/>
              </a:rPr>
              <a:t>The </a:t>
            </a:r>
            <a:r>
              <a:rPr lang="en-US" sz="4400" b="1" dirty="0" err="1">
                <a:latin typeface="Arial" panose="020B0604020202020204" pitchFamily="34" charset="0"/>
                <a:cs typeface="Arial" panose="020B0604020202020204" pitchFamily="34" charset="0"/>
              </a:rPr>
              <a:t>Unet</a:t>
            </a:r>
            <a:r>
              <a:rPr lang="en-US" sz="4400" b="1" dirty="0">
                <a:latin typeface="Arial" panose="020B0604020202020204" pitchFamily="34" charset="0"/>
                <a:cs typeface="Arial" panose="020B0604020202020204" pitchFamily="34" charset="0"/>
              </a:rPr>
              <a:t> model</a:t>
            </a:r>
            <a:br>
              <a:rPr lang="en-US" sz="3400" b="1" dirty="0">
                <a:latin typeface="Arial" panose="020B0604020202020204" pitchFamily="34" charset="0"/>
                <a:cs typeface="Arial" panose="020B0604020202020204" pitchFamily="34" charset="0"/>
              </a:rPr>
            </a:br>
            <a:endParaRPr lang="LID4096" sz="34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232D4CE3-4DA0-7214-073E-21080982246A}"/>
              </a:ext>
            </a:extLst>
          </p:cNvPr>
          <p:cNvSpPr>
            <a:spLocks noGrp="1" noChangeArrowheads="1"/>
          </p:cNvSpPr>
          <p:nvPr>
            <p:ph type="ctrTitle"/>
          </p:nvPr>
        </p:nvSpPr>
        <p:spPr bwMode="auto">
          <a:xfrm>
            <a:off x="446727" y="1227260"/>
            <a:ext cx="55499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he-IL"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Encoder</a:t>
            </a:r>
            <a:r>
              <a:rPr kumimoji="0" lang="he-IL"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decoder structure</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capturing both global context and fine details</a:t>
            </a:r>
            <a:br>
              <a:rPr kumimoji="0" lang="he-IL"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e-IL"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Skip connections</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that preserve spatial information for accurate mask reconstruction</a:t>
            </a:r>
            <a:br>
              <a:rPr kumimoji="0" lang="he-IL"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Aft>
                <a:spcPct val="0"/>
              </a:spcAft>
              <a:buFontTx/>
              <a:buChar char="•"/>
            </a:pPr>
            <a:r>
              <a:rPr kumimoji="0" lang="he-IL" altLang="LID4096" sz="160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Custom loss </a:t>
            </a:r>
            <a:r>
              <a:rPr lang="en-US" sz="1600" dirty="0">
                <a:latin typeface="Arial" panose="020B0604020202020204" pitchFamily="34" charset="0"/>
                <a:cs typeface="Arial" panose="020B0604020202020204" pitchFamily="34" charset="0"/>
              </a:rPr>
              <a:t>combining </a:t>
            </a:r>
            <a:r>
              <a:rPr lang="en-US" sz="1600" dirty="0" err="1">
                <a:latin typeface="Arial" panose="020B0604020202020204" pitchFamily="34" charset="0"/>
                <a:cs typeface="Arial" panose="020B0604020202020204" pitchFamily="34" charset="0"/>
              </a:rPr>
              <a:t>BCEWithLogits</a:t>
            </a:r>
            <a:r>
              <a:rPr lang="en-US" sz="1600" dirty="0">
                <a:latin typeface="Arial" panose="020B0604020202020204" pitchFamily="34" charset="0"/>
                <a:cs typeface="Arial" panose="020B0604020202020204" pitchFamily="34" charset="0"/>
              </a:rPr>
              <a:t> (with positive class weighting) and Dice Loss to address class imbalance and improve overlap accuracy</a:t>
            </a:r>
            <a:br>
              <a:rPr kumimoji="0" lang="he-IL"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Aft>
                <a:spcPct val="0"/>
              </a:spcAft>
              <a:buFontTx/>
              <a:buChar char="•"/>
            </a:pPr>
            <a:r>
              <a:rPr kumimoji="0" lang="he-IL"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Evaluation</a:t>
            </a:r>
            <a:r>
              <a:rPr lang="en-US" sz="1600" dirty="0">
                <a:latin typeface="Arial" panose="020B0604020202020204" pitchFamily="34" charset="0"/>
                <a:cs typeface="Arial" panose="020B0604020202020204" pitchFamily="34" charset="0"/>
              </a:rPr>
              <a:t> using </a:t>
            </a:r>
            <a:r>
              <a:rPr lang="en-US" sz="1600" b="1" dirty="0" err="1">
                <a:latin typeface="Arial" panose="020B0604020202020204" pitchFamily="34" charset="0"/>
                <a:cs typeface="Arial" panose="020B0604020202020204" pitchFamily="34" charset="0"/>
              </a:rPr>
              <a:t>IoU</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Dice score </a:t>
            </a:r>
            <a:r>
              <a:rPr lang="en-US" sz="1600" dirty="0">
                <a:latin typeface="Arial" panose="020B0604020202020204" pitchFamily="34" charset="0"/>
                <a:cs typeface="Arial" panose="020B0604020202020204" pitchFamily="34" charset="0"/>
              </a:rPr>
              <a:t>for segmentation quality assessment</a:t>
            </a:r>
            <a:br>
              <a:rPr kumimoji="0" lang="he-IL"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Aft>
                <a:spcPct val="0"/>
              </a:spcAft>
              <a:buFontTx/>
              <a:buChar char="•"/>
            </a:pPr>
            <a:r>
              <a:rPr kumimoji="0" lang="he-IL"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Data augmentation </a:t>
            </a:r>
            <a:r>
              <a:rPr lang="en-US" sz="1600" dirty="0">
                <a:latin typeface="Arial" panose="020B0604020202020204" pitchFamily="34" charset="0"/>
                <a:cs typeface="Arial" panose="020B0604020202020204" pitchFamily="34" charset="0"/>
              </a:rPr>
              <a:t>including flips, rotations, and color jitter to improve robustness</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B303082B-5880-A81C-75D6-8B546B0DCB11}"/>
              </a:ext>
            </a:extLst>
          </p:cNvPr>
          <p:cNvSpPr txBox="1">
            <a:spLocks noChangeArrowheads="1"/>
          </p:cNvSpPr>
          <p:nvPr/>
        </p:nvSpPr>
        <p:spPr bwMode="auto">
          <a:xfrm>
            <a:off x="397340" y="5054154"/>
            <a:ext cx="554990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r>
              <a:rPr lang="en-US" sz="1600" dirty="0">
                <a:latin typeface="Arial" panose="020B0604020202020204" pitchFamily="34" charset="0"/>
                <a:cs typeface="Arial" panose="020B0604020202020204" pitchFamily="34" charset="0"/>
              </a:rPr>
              <a:t>This network learns from manually created de-identification masks and can automatically locate and mask identifying text or markers on new wound images. The algorithm was </a:t>
            </a:r>
            <a:r>
              <a:rPr lang="en-US" sz="1600" b="1" dirty="0">
                <a:latin typeface="Arial" panose="020B0604020202020204" pitchFamily="34" charset="0"/>
                <a:cs typeface="Arial" panose="020B0604020202020204" pitchFamily="34" charset="0"/>
              </a:rPr>
              <a:t>intentionally designed to operate conservatively, ensuring minimal risk of information leakage.</a:t>
            </a:r>
          </a:p>
        </p:txBody>
      </p:sp>
    </p:spTree>
    <p:extLst>
      <p:ext uri="{BB962C8B-B14F-4D97-AF65-F5344CB8AC3E}">
        <p14:creationId xmlns:p14="http://schemas.microsoft.com/office/powerpoint/2010/main" val="87286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4C4480-9F29-1955-FE3C-7F99C9B99A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7D6F45-6805-0410-21F8-D9B2D8481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36E56711-9304-4CD7-346E-E4F08245E2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4B83EBD0-8F35-6DD0-6429-6C5B74D724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23778F4-39BA-A1B9-A896-1445F885C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23B9F48-5312-A69F-71AD-4F8D69BFC2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AEA027A-1940-844C-3BD8-E7E5EEBAD1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6F12298-D8F8-75E8-1123-BC0C97F196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A3942F7-0E82-D5F8-F04E-84441069BF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8F844D7-9EA1-4BA1-C013-2AA4ADD803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568355-955A-5E5A-374B-281A65F56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465B2F-A977-BDDC-8914-272F7D8A92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EC6536C-76CA-6E6C-19E6-E974267A28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48B2CAF-3100-5AAF-2E00-A023CC2306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0F5E7D2-2938-437E-652B-66C48B080E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49682F8-F8C0-09A5-2DF5-4176F91F4E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7A99346-6C11-1774-7378-2AB0F09DC4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77A82ED-5E05-5EEF-1F7E-4DF90B578E1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6C3E3D-AA7E-0054-ACBA-A8E910A57A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4A137E7-59BA-5F6F-5294-1428F5D20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91ECD69-E1F4-4124-B36B-038883A35C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F780FD-DE2E-E0B9-DA89-89D656E5EF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B541F5-83D3-C324-4A7C-BBDD54BA0E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829AF4E-35F4-E0E2-E838-C759FADE7B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4A1586A-BB3B-19F4-96C6-AC56E69F29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332316C-80CD-ACC0-3280-6B6EA97D7F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22B3B9A-BAD3-BB23-C534-23B5879870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30DB215-78C9-6FF0-4EDC-82C2E5FAA4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A303161-7AB5-52F5-4FCB-5D3B56E97F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C5FD190-8000-7A55-F654-A6559A58CA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F7692AC-98BE-5AE1-3D75-6476968B8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C09CFA8-3FA6-B18C-EEE9-D19D4E62F0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7E17238-13DD-96C3-C5F2-03E6FCC5FF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BA552C4-4A96-4B9F-5B4E-2F28189270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3A50AF10-CB69-B62E-466A-F9A4CD6C6B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107C4254-62F1-3747-5D75-0FA3C51A981D}"/>
              </a:ext>
            </a:extLst>
          </p:cNvPr>
          <p:cNvPicPr>
            <a:picLocks noChangeAspect="1"/>
          </p:cNvPicPr>
          <p:nvPr/>
        </p:nvPicPr>
        <p:blipFill>
          <a:blip r:embed="rId2"/>
          <a:srcRect l="12834" r="25362"/>
          <a:stretch>
            <a:fillRect/>
          </a:stretch>
        </p:blipFill>
        <p:spPr>
          <a:xfrm>
            <a:off x="8173882" y="-1554"/>
            <a:ext cx="4008739"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189E609B-B925-76F4-0E62-641DBE4A9FEA}"/>
              </a:ext>
            </a:extLst>
          </p:cNvPr>
          <p:cNvSpPr txBox="1">
            <a:spLocks/>
          </p:cNvSpPr>
          <p:nvPr/>
        </p:nvSpPr>
        <p:spPr>
          <a:xfrm>
            <a:off x="195693" y="-513732"/>
            <a:ext cx="6883759" cy="1935359"/>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3700" b="1" dirty="0">
                <a:latin typeface="Arial" panose="020B0604020202020204" pitchFamily="34" charset="0"/>
                <a:cs typeface="Arial" panose="020B0604020202020204" pitchFamily="34" charset="0"/>
              </a:rPr>
              <a:t>The </a:t>
            </a:r>
            <a:r>
              <a:rPr lang="en-US" sz="3700" b="1" dirty="0" err="1">
                <a:latin typeface="Arial" panose="020B0604020202020204" pitchFamily="34" charset="0"/>
                <a:cs typeface="Arial" panose="020B0604020202020204" pitchFamily="34" charset="0"/>
              </a:rPr>
              <a:t>Unet</a:t>
            </a:r>
            <a:r>
              <a:rPr lang="en-US" sz="3700" b="1" dirty="0">
                <a:latin typeface="Arial" panose="020B0604020202020204" pitchFamily="34" charset="0"/>
                <a:cs typeface="Arial" panose="020B0604020202020204" pitchFamily="34" charset="0"/>
              </a:rPr>
              <a:t> model - Structure</a:t>
            </a:r>
            <a:br>
              <a:rPr lang="en-US" sz="3400" b="1" dirty="0">
                <a:latin typeface="Arial" panose="020B0604020202020204" pitchFamily="34" charset="0"/>
                <a:cs typeface="Arial" panose="020B0604020202020204" pitchFamily="34" charset="0"/>
              </a:rPr>
            </a:br>
            <a:endParaRPr lang="LID4096" sz="3400" b="1" dirty="0">
              <a:latin typeface="Arial" panose="020B0604020202020204" pitchFamily="34" charset="0"/>
              <a:cs typeface="Arial" panose="020B0604020202020204" pitchFamily="34" charset="0"/>
            </a:endParaRPr>
          </a:p>
        </p:txBody>
      </p:sp>
      <p:pic>
        <p:nvPicPr>
          <p:cNvPr id="44" name="Picture 43">
            <a:extLst>
              <a:ext uri="{FF2B5EF4-FFF2-40B4-BE49-F238E27FC236}">
                <a16:creationId xmlns:a16="http://schemas.microsoft.com/office/drawing/2014/main" id="{56EEF81E-6663-52DC-5C94-3DCCA7418780}"/>
              </a:ext>
            </a:extLst>
          </p:cNvPr>
          <p:cNvPicPr>
            <a:picLocks noChangeAspect="1"/>
          </p:cNvPicPr>
          <p:nvPr/>
        </p:nvPicPr>
        <p:blipFill>
          <a:blip r:embed="rId3"/>
          <a:stretch>
            <a:fillRect/>
          </a:stretch>
        </p:blipFill>
        <p:spPr>
          <a:xfrm>
            <a:off x="-1" y="1325883"/>
            <a:ext cx="8173883" cy="5702278"/>
          </a:xfrm>
          <a:prstGeom prst="rect">
            <a:avLst/>
          </a:prstGeom>
        </p:spPr>
      </p:pic>
    </p:spTree>
    <p:extLst>
      <p:ext uri="{BB962C8B-B14F-4D97-AF65-F5344CB8AC3E}">
        <p14:creationId xmlns:p14="http://schemas.microsoft.com/office/powerpoint/2010/main" val="2961129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D50805-AE77-8277-9F77-471BD87F76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7AE0B4-A333-E95C-1363-1DF3FD042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773157E4-4EBA-C798-6659-E5D13AE0EE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9A9803FD-5B25-2B7D-F86B-C50774221E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6860B7-136B-0AB7-B1B3-9CB2B0D213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A03187-D066-0FF9-A84E-C7E2481697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B62B259-04DC-BE22-C736-037F52B150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62B4E36-D7DB-DAD7-C09E-F0495F9C91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643EB7A-AEF7-D5A0-7432-6C53F3FE1A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D43068-8D68-0C04-DB17-C845BE0078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F36600-72BA-031B-6F1C-EE8C6B5387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119C110-7AF3-4A5E-3BC0-73096014C1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37C362D-B47A-BD67-FEA7-D3BF39FE1A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2FB9FC6-8C51-ED0E-67F9-C68D79E926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A5F59FB-3EAA-CCE3-69CF-B026573407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C89C3C4-BE34-6A9E-EE09-CE2EF9948C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319CF99-00BB-4607-C249-EF493463BC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713777D-27BA-8AB1-65A0-4E72F21C1E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BE4B643-EBC4-7363-E02B-40EFF7783D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B6CD352-3F54-93BB-941C-DB53842A91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512F66E-3946-6FB2-0659-D9D3C56938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AB5E7E4-9375-2D72-31AB-C5F9451551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312F6E2-27E7-FE94-5CB1-29A933F6ED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37A610-CCD0-2277-4DD3-199767F8CC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EAD44FE-E888-AF7A-AFDA-44FCE87EC6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EA64902-25FC-8326-A963-7AF57E0A35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84DE95B-FD35-470A-4012-B78C6902BC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C75F053-8A00-FB9A-B96F-21C7C81639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13E083-3F2B-04C3-BD73-F9AFFBB13D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6CDEF5E-5940-A477-14FA-6BF79A5A3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1759C44-A1F6-5107-C971-0D5BC8DF8B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78A2AFF-81F0-F991-B6A6-26AEB0D161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20F0ECD-69F6-F669-AEFF-B1C8B61322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C16F203-0C2D-94DF-9CD9-4125BAADC6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85B61842-10AD-027C-C853-BF70F0019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9DF16B7E-87FE-A36D-4049-3B66B6340EA0}"/>
              </a:ext>
            </a:extLst>
          </p:cNvPr>
          <p:cNvPicPr>
            <a:picLocks noChangeAspect="1"/>
          </p:cNvPicPr>
          <p:nvPr/>
        </p:nvPicPr>
        <p:blipFill>
          <a:blip r:embed="rId2"/>
          <a:srcRect l="12834" r="25362"/>
          <a:stretch>
            <a:fillRect/>
          </a:stretch>
        </p:blipFill>
        <p:spPr>
          <a:xfrm>
            <a:off x="8183647" y="-1554"/>
            <a:ext cx="3998974"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1B2241D2-394C-3AE5-B0C4-137DAB6BD3FA}"/>
              </a:ext>
            </a:extLst>
          </p:cNvPr>
          <p:cNvSpPr txBox="1">
            <a:spLocks/>
          </p:cNvSpPr>
          <p:nvPr/>
        </p:nvSpPr>
        <p:spPr>
          <a:xfrm>
            <a:off x="186604" y="-395650"/>
            <a:ext cx="5860025" cy="1935359"/>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3700" b="1" dirty="0">
                <a:latin typeface="Arial" panose="020B0604020202020204" pitchFamily="34" charset="0"/>
                <a:cs typeface="Arial" panose="020B0604020202020204" pitchFamily="34" charset="0"/>
              </a:rPr>
              <a:t>The </a:t>
            </a:r>
            <a:r>
              <a:rPr lang="en-US" sz="3700" b="1" dirty="0" err="1">
                <a:latin typeface="Arial" panose="020B0604020202020204" pitchFamily="34" charset="0"/>
                <a:cs typeface="Arial" panose="020B0604020202020204" pitchFamily="34" charset="0"/>
              </a:rPr>
              <a:t>Unet</a:t>
            </a:r>
            <a:r>
              <a:rPr lang="en-US" sz="3700" b="1" dirty="0">
                <a:latin typeface="Arial" panose="020B0604020202020204" pitchFamily="34" charset="0"/>
                <a:cs typeface="Arial" panose="020B0604020202020204" pitchFamily="34" charset="0"/>
              </a:rPr>
              <a:t> model - Loss function + Metrics</a:t>
            </a:r>
            <a:br>
              <a:rPr lang="en-US" sz="3400" b="1" dirty="0">
                <a:latin typeface="Arial" panose="020B0604020202020204" pitchFamily="34" charset="0"/>
                <a:cs typeface="Arial" panose="020B0604020202020204" pitchFamily="34" charset="0"/>
              </a:rPr>
            </a:br>
            <a:endParaRPr lang="LID4096" sz="34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675B7F2-3082-A421-F032-A4A5AED392EC}"/>
              </a:ext>
            </a:extLst>
          </p:cNvPr>
          <p:cNvPicPr>
            <a:picLocks noChangeAspect="1"/>
          </p:cNvPicPr>
          <p:nvPr/>
        </p:nvPicPr>
        <p:blipFill>
          <a:blip r:embed="rId3"/>
          <a:stretch>
            <a:fillRect/>
          </a:stretch>
        </p:blipFill>
        <p:spPr>
          <a:xfrm>
            <a:off x="-9379" y="1166414"/>
            <a:ext cx="8193026" cy="5691586"/>
          </a:xfrm>
          <a:prstGeom prst="rect">
            <a:avLst/>
          </a:prstGeom>
        </p:spPr>
      </p:pic>
    </p:spTree>
    <p:extLst>
      <p:ext uri="{BB962C8B-B14F-4D97-AF65-F5344CB8AC3E}">
        <p14:creationId xmlns:p14="http://schemas.microsoft.com/office/powerpoint/2010/main" val="3952231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3D7613-2BBE-E2E5-A5B6-3F9A83E085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0B5458-9FA6-4406-77FA-B5E487A80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DABA3D8C-7CA9-C5F2-DCC5-CD4BB943B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25C19C66-3752-CB69-B072-563E721F77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97413A-7623-6C35-33DA-8D6B27ACC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6398E84-713E-CE38-CBFA-770EBA04E3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505AA9-3D3D-F100-2010-F9D917D573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863C7C-B95C-057D-4906-8E40B92FD2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ED765C5-2F3E-B1A2-3BB8-B75415B1B4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7291FE4-3997-DF34-F50D-DE9B1F27CA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CEA49E-C5E5-7119-0A3F-92E49506EB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088BF7D-D70B-B2B4-5855-03D805B190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ADA9E5-72C2-3D9E-E4E0-886946498D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E17F9B-CBBB-83C9-138B-64B66C0A42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AC053C0-147F-33ED-94B6-395BEF3697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B28C47A-221E-8EBD-6529-67AAAB57BF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A461F72-DC37-0C14-450F-4865E0DEC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3C7817A-15F1-13E8-3237-2AFAE668D2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713EAFE-E004-8EE7-34B9-B4F3473D7D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458376-A184-AA7B-5812-CFEA7A8CAC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D2CF8B1-ED00-8128-EC6B-F775FB1742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9B7A3B3-0908-42A8-68BE-EDEE031C29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1FCFE75-C897-3A57-0283-1B11396FE2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FA05CCE-710E-D3BD-2756-2175CE2F3D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9187C8E-BC56-5EFE-355C-84F34515D5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C8BF362-13F1-61A3-20E4-D6F528E2CB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E2739E8-8729-E7B8-B7F2-8919DCC497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12A5311-07CD-56F5-5E66-0F8EBB9A24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56D434B-A4AD-18E0-798F-470977968C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0FE0B08-73AD-0443-400C-412D828065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A293E4B-1217-3A68-AB1E-2F85934665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90DAED0-F099-3A26-3F13-4D4647E533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BEDE5C1-EF0E-4F3E-2CD8-0FDA1D8EF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2A749D4-B7FB-198C-5569-0D2C50F263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7DC03805-DD1C-939D-CE12-22CA81D9C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5D9C4539-2F74-A5AC-560C-B693E069D4BA}"/>
              </a:ext>
            </a:extLst>
          </p:cNvPr>
          <p:cNvPicPr>
            <a:picLocks noChangeAspect="1"/>
          </p:cNvPicPr>
          <p:nvPr/>
        </p:nvPicPr>
        <p:blipFill>
          <a:blip r:embed="rId2"/>
          <a:srcRect l="12834" r="25362"/>
          <a:stretch>
            <a:fillRect/>
          </a:stretch>
        </p:blipFill>
        <p:spPr>
          <a:xfrm>
            <a:off x="6440813" y="-1554"/>
            <a:ext cx="5741808"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2248E6E6-F26D-A243-E546-F47EE31317F1}"/>
              </a:ext>
            </a:extLst>
          </p:cNvPr>
          <p:cNvSpPr txBox="1">
            <a:spLocks/>
          </p:cNvSpPr>
          <p:nvPr/>
        </p:nvSpPr>
        <p:spPr>
          <a:xfrm>
            <a:off x="16613" y="-692503"/>
            <a:ext cx="6589100" cy="1935359"/>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3700" b="1" dirty="0">
                <a:latin typeface="Arial" panose="020B0604020202020204" pitchFamily="34" charset="0"/>
                <a:cs typeface="Arial" panose="020B0604020202020204" pitchFamily="34" charset="0"/>
              </a:rPr>
              <a:t>The </a:t>
            </a:r>
            <a:r>
              <a:rPr lang="en-US" sz="3700" b="1" dirty="0" err="1">
                <a:latin typeface="Arial" panose="020B0604020202020204" pitchFamily="34" charset="0"/>
                <a:cs typeface="Arial" panose="020B0604020202020204" pitchFamily="34" charset="0"/>
              </a:rPr>
              <a:t>Unet</a:t>
            </a:r>
            <a:r>
              <a:rPr lang="en-US" sz="3700" b="1" dirty="0">
                <a:latin typeface="Arial" panose="020B0604020202020204" pitchFamily="34" charset="0"/>
                <a:cs typeface="Arial" panose="020B0604020202020204" pitchFamily="34" charset="0"/>
              </a:rPr>
              <a:t> model - Example</a:t>
            </a:r>
            <a:br>
              <a:rPr lang="en-US" sz="3400" b="1" dirty="0">
                <a:latin typeface="Arial" panose="020B0604020202020204" pitchFamily="34" charset="0"/>
                <a:cs typeface="Arial" panose="020B0604020202020204" pitchFamily="34" charset="0"/>
              </a:rPr>
            </a:br>
            <a:endParaRPr lang="LID4096" sz="3400" b="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36F6334-5E29-ACD9-07F6-191C9A9C202D}"/>
              </a:ext>
            </a:extLst>
          </p:cNvPr>
          <p:cNvPicPr>
            <a:picLocks noChangeAspect="1"/>
          </p:cNvPicPr>
          <p:nvPr/>
        </p:nvPicPr>
        <p:blipFill>
          <a:blip r:embed="rId3"/>
          <a:stretch>
            <a:fillRect/>
          </a:stretch>
        </p:blipFill>
        <p:spPr>
          <a:xfrm>
            <a:off x="-25875" y="968736"/>
            <a:ext cx="6447022" cy="5889264"/>
          </a:xfrm>
          <a:prstGeom prst="rect">
            <a:avLst/>
          </a:prstGeom>
        </p:spPr>
      </p:pic>
    </p:spTree>
    <p:extLst>
      <p:ext uri="{BB962C8B-B14F-4D97-AF65-F5344CB8AC3E}">
        <p14:creationId xmlns:p14="http://schemas.microsoft.com/office/powerpoint/2010/main" val="3156720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2C9CB0-09B0-6D98-FFE4-A64FC634FDE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94A119-3F73-07F5-7DC5-6115E4694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65BEBCE5-A26D-1FAE-8632-93F867A9D6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92277125-0B3B-ADA0-0341-3FFAB7701E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7AA565-0D99-DF66-13B8-379247AC19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2CD54D-B843-08E3-98BA-5B181D0EA4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4A98246-FA5F-F6B3-DF52-75FEFEE874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E95D79C-25D4-5013-4D6D-9C83370346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2BABCE7-ED94-AA4E-6CC0-27DFFEAEEB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17CC8A-CCDF-4D4A-6B69-CF32FE4EE0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47ADE06-B75F-4594-253E-9802AC6574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256AC0-556A-7E9D-F4E7-E75E841A3E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7D34DA0-6F0D-692E-A2F0-6905691272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C9AFEAE-B494-DE7B-804B-52FB0F3290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C03BDA3-4782-22E8-4DBF-C7A30C617B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18CAF22-D4F7-B835-A66B-60C1EE57C9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B2E8287-13ED-3D1C-6296-A39C36A37F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7005AA7-137D-E7A3-6502-C21B06B3A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FCD1470-A63E-F903-8D87-E0F26B5D0F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ED7F812-68FB-68E9-ABD0-53D2C4867D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150EC98-5101-C61D-30E2-BFCB5D36C0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BAB4778-CC57-CD04-999F-E918096B2F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8B58DD4-B2A2-5982-0F5A-C788709717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8E38233-7690-7798-32FF-F0947E3ABF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49813EE-F83D-E588-FE8B-652004585A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35ECE3-1279-077C-5029-C06CBD54C0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E62BC10-BB5B-0F91-31C9-4E7826C27A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8E7B3B4-44A6-480E-43B5-0F04AC525D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8E6AD8-814D-0980-4C27-7C2FBA4154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8F9209A-CDE1-9940-6B23-220AF862C1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075120-6492-A763-8954-807AB91736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4DA417-F860-36D5-05FC-98213F9B70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EF9F756-226C-2C22-A654-3914A35A93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715CC05-C584-DEDC-A534-EC14437EF7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369BEBE2-04BC-9F9C-83A9-834C55CE4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EDA09178-B937-5425-FA67-2C3CBAC4D385}"/>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17690AB0-5C9B-FB4F-BED8-3D623F64D933}"/>
              </a:ext>
            </a:extLst>
          </p:cNvPr>
          <p:cNvSpPr txBox="1">
            <a:spLocks/>
          </p:cNvSpPr>
          <p:nvPr/>
        </p:nvSpPr>
        <p:spPr>
          <a:xfrm>
            <a:off x="368444" y="222338"/>
            <a:ext cx="5402454" cy="2510445"/>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4400" b="1" dirty="0">
                <a:latin typeface="Arial" panose="020B0604020202020204" pitchFamily="34" charset="0"/>
                <a:cs typeface="Arial" panose="020B0604020202020204" pitchFamily="34" charset="0"/>
              </a:rPr>
              <a:t>Results</a:t>
            </a:r>
          </a:p>
          <a:p>
            <a:pPr>
              <a:lnSpc>
                <a:spcPct val="90000"/>
              </a:lnSpc>
            </a:pPr>
            <a:br>
              <a:rPr lang="en-US" sz="3400" dirty="0"/>
            </a:br>
            <a:endParaRPr lang="LID4096" sz="3400" dirty="0"/>
          </a:p>
        </p:txBody>
      </p:sp>
      <p:graphicFrame>
        <p:nvGraphicFramePr>
          <p:cNvPr id="3" name="Table 2">
            <a:extLst>
              <a:ext uri="{FF2B5EF4-FFF2-40B4-BE49-F238E27FC236}">
                <a16:creationId xmlns:a16="http://schemas.microsoft.com/office/drawing/2014/main" id="{3D6B89F6-961C-EC48-4E79-02CABFFE0D03}"/>
              </a:ext>
            </a:extLst>
          </p:cNvPr>
          <p:cNvGraphicFramePr>
            <a:graphicFrameLocks noGrp="1"/>
          </p:cNvGraphicFramePr>
          <p:nvPr>
            <p:extLst>
              <p:ext uri="{D42A27DB-BD31-4B8C-83A1-F6EECF244321}">
                <p14:modId xmlns:p14="http://schemas.microsoft.com/office/powerpoint/2010/main" val="620781023"/>
              </p:ext>
            </p:extLst>
          </p:nvPr>
        </p:nvGraphicFramePr>
        <p:xfrm>
          <a:off x="0" y="3220391"/>
          <a:ext cx="6042387" cy="3634504"/>
        </p:xfrm>
        <a:graphic>
          <a:graphicData uri="http://schemas.openxmlformats.org/drawingml/2006/table">
            <a:tbl>
              <a:tblPr firstRow="1" bandRow="1">
                <a:tableStyleId>{5C22544A-7EE6-4342-B048-85BDC9FD1C3A}</a:tableStyleId>
              </a:tblPr>
              <a:tblGrid>
                <a:gridCol w="2014129">
                  <a:extLst>
                    <a:ext uri="{9D8B030D-6E8A-4147-A177-3AD203B41FA5}">
                      <a16:colId xmlns:a16="http://schemas.microsoft.com/office/drawing/2014/main" val="1508665857"/>
                    </a:ext>
                  </a:extLst>
                </a:gridCol>
                <a:gridCol w="2014129">
                  <a:extLst>
                    <a:ext uri="{9D8B030D-6E8A-4147-A177-3AD203B41FA5}">
                      <a16:colId xmlns:a16="http://schemas.microsoft.com/office/drawing/2014/main" val="1478955926"/>
                    </a:ext>
                  </a:extLst>
                </a:gridCol>
                <a:gridCol w="2014129">
                  <a:extLst>
                    <a:ext uri="{9D8B030D-6E8A-4147-A177-3AD203B41FA5}">
                      <a16:colId xmlns:a16="http://schemas.microsoft.com/office/drawing/2014/main" val="823610884"/>
                    </a:ext>
                  </a:extLst>
                </a:gridCol>
              </a:tblGrid>
              <a:tr h="908626">
                <a:tc>
                  <a:txBody>
                    <a:bodyPr/>
                    <a:lstStyle/>
                    <a:p>
                      <a:pPr algn="ctr"/>
                      <a:r>
                        <a:rPr lang="en-US" dirty="0"/>
                        <a:t>Metric</a:t>
                      </a:r>
                      <a:endParaRPr lang="LID4096" dirty="0"/>
                    </a:p>
                  </a:txBody>
                  <a:tcPr/>
                </a:tc>
                <a:tc>
                  <a:txBody>
                    <a:bodyPr/>
                    <a:lstStyle/>
                    <a:p>
                      <a:pPr algn="ctr"/>
                      <a:r>
                        <a:rPr lang="en-US" dirty="0">
                          <a:latin typeface="Arial" panose="020B0604020202020204" pitchFamily="34" charset="0"/>
                          <a:cs typeface="Arial" panose="020B0604020202020204" pitchFamily="34" charset="0"/>
                        </a:rPr>
                        <a:t>Train</a:t>
                      </a:r>
                      <a:endParaRPr lang="LID4096" dirty="0">
                        <a:latin typeface="Arial" panose="020B0604020202020204" pitchFamily="34" charset="0"/>
                        <a:cs typeface="Arial" panose="020B0604020202020204" pitchFamily="34" charset="0"/>
                      </a:endParaRPr>
                    </a:p>
                  </a:txBody>
                  <a:tcPr/>
                </a:tc>
                <a:tc>
                  <a:txBody>
                    <a:bodyPr/>
                    <a:lstStyle/>
                    <a:p>
                      <a:pPr algn="ctr"/>
                      <a:r>
                        <a:rPr lang="en-US" dirty="0"/>
                        <a:t>Validation</a:t>
                      </a:r>
                      <a:endParaRPr lang="LID4096" dirty="0"/>
                    </a:p>
                  </a:txBody>
                  <a:tcPr/>
                </a:tc>
                <a:extLst>
                  <a:ext uri="{0D108BD9-81ED-4DB2-BD59-A6C34878D82A}">
                    <a16:rowId xmlns:a16="http://schemas.microsoft.com/office/drawing/2014/main" val="674766740"/>
                  </a:ext>
                </a:extLst>
              </a:tr>
              <a:tr h="908626">
                <a:tc>
                  <a:txBody>
                    <a:bodyPr/>
                    <a:lstStyle/>
                    <a:p>
                      <a:pPr algn="ctr"/>
                      <a:r>
                        <a:rPr lang="en-US" dirty="0">
                          <a:latin typeface="Arial" panose="020B0604020202020204" pitchFamily="34" charset="0"/>
                          <a:cs typeface="Arial" panose="020B0604020202020204" pitchFamily="34" charset="0"/>
                        </a:rPr>
                        <a:t>LOSS</a:t>
                      </a:r>
                      <a:endParaRPr lang="LID4096" dirty="0">
                        <a:latin typeface="Arial" panose="020B0604020202020204" pitchFamily="34" charset="0"/>
                        <a:cs typeface="Arial" panose="020B0604020202020204" pitchFamily="34" charset="0"/>
                      </a:endParaRPr>
                    </a:p>
                  </a:txBody>
                  <a:tcPr/>
                </a:tc>
                <a:tc>
                  <a:txBody>
                    <a:bodyPr/>
                    <a:lstStyle/>
                    <a:p>
                      <a:pPr algn="ctr"/>
                      <a:r>
                        <a:rPr lang="en-US" dirty="0"/>
                        <a:t>1.9238</a:t>
                      </a:r>
                      <a:endParaRPr lang="LID4096" dirty="0"/>
                    </a:p>
                  </a:txBody>
                  <a:tcPr/>
                </a:tc>
                <a:tc>
                  <a:txBody>
                    <a:bodyPr/>
                    <a:lstStyle/>
                    <a:p>
                      <a:pPr algn="ctr"/>
                      <a:r>
                        <a:rPr lang="en-US" dirty="0"/>
                        <a:t>1.9819</a:t>
                      </a:r>
                      <a:endParaRPr lang="LID4096" dirty="0"/>
                    </a:p>
                  </a:txBody>
                  <a:tcPr/>
                </a:tc>
                <a:extLst>
                  <a:ext uri="{0D108BD9-81ED-4DB2-BD59-A6C34878D82A}">
                    <a16:rowId xmlns:a16="http://schemas.microsoft.com/office/drawing/2014/main" val="2109792528"/>
                  </a:ext>
                </a:extLst>
              </a:tr>
              <a:tr h="908626">
                <a:tc>
                  <a:txBody>
                    <a:bodyPr/>
                    <a:lstStyle/>
                    <a:p>
                      <a:pPr algn="ctr"/>
                      <a:r>
                        <a:rPr lang="en-US" dirty="0" err="1">
                          <a:latin typeface="Arial" panose="020B0604020202020204" pitchFamily="34" charset="0"/>
                          <a:cs typeface="Arial" panose="020B0604020202020204" pitchFamily="34" charset="0"/>
                        </a:rPr>
                        <a:t>IoU</a:t>
                      </a:r>
                      <a:endParaRPr lang="LID4096" dirty="0">
                        <a:latin typeface="Arial" panose="020B0604020202020204" pitchFamily="34" charset="0"/>
                        <a:cs typeface="Arial" panose="020B0604020202020204" pitchFamily="34" charset="0"/>
                      </a:endParaRPr>
                    </a:p>
                  </a:txBody>
                  <a:tcPr/>
                </a:tc>
                <a:tc>
                  <a:txBody>
                    <a:bodyPr/>
                    <a:lstStyle/>
                    <a:p>
                      <a:pPr algn="ctr"/>
                      <a:r>
                        <a:rPr lang="en-US" dirty="0"/>
                        <a:t>0.0837</a:t>
                      </a:r>
                      <a:endParaRPr lang="LID4096" dirty="0"/>
                    </a:p>
                  </a:txBody>
                  <a:tcPr/>
                </a:tc>
                <a:tc>
                  <a:txBody>
                    <a:bodyPr/>
                    <a:lstStyle/>
                    <a:p>
                      <a:pPr algn="ctr"/>
                      <a:r>
                        <a:rPr lang="en-US" dirty="0"/>
                        <a:t>0.0974</a:t>
                      </a:r>
                      <a:endParaRPr lang="LID4096" dirty="0"/>
                    </a:p>
                  </a:txBody>
                  <a:tcPr/>
                </a:tc>
                <a:extLst>
                  <a:ext uri="{0D108BD9-81ED-4DB2-BD59-A6C34878D82A}">
                    <a16:rowId xmlns:a16="http://schemas.microsoft.com/office/drawing/2014/main" val="2945106618"/>
                  </a:ext>
                </a:extLst>
              </a:tr>
              <a:tr h="908626">
                <a:tc>
                  <a:txBody>
                    <a:bodyPr/>
                    <a:lstStyle/>
                    <a:p>
                      <a:pPr algn="ctr"/>
                      <a:r>
                        <a:rPr lang="en-US" dirty="0">
                          <a:latin typeface="Arial" panose="020B0604020202020204" pitchFamily="34" charset="0"/>
                          <a:cs typeface="Arial" panose="020B0604020202020204" pitchFamily="34" charset="0"/>
                        </a:rPr>
                        <a:t>Dice</a:t>
                      </a:r>
                      <a:endParaRPr lang="LID4096" dirty="0">
                        <a:latin typeface="Arial" panose="020B0604020202020204" pitchFamily="34" charset="0"/>
                        <a:cs typeface="Arial" panose="020B0604020202020204" pitchFamily="34" charset="0"/>
                      </a:endParaRPr>
                    </a:p>
                  </a:txBody>
                  <a:tcPr/>
                </a:tc>
                <a:tc>
                  <a:txBody>
                    <a:bodyPr/>
                    <a:lstStyle/>
                    <a:p>
                      <a:pPr algn="ctr"/>
                      <a:r>
                        <a:rPr lang="he-IL" dirty="0"/>
                        <a:t>0.1583</a:t>
                      </a:r>
                      <a:endParaRPr lang="LID4096" dirty="0"/>
                    </a:p>
                  </a:txBody>
                  <a:tcPr/>
                </a:tc>
                <a:tc>
                  <a:txBody>
                    <a:bodyPr/>
                    <a:lstStyle/>
                    <a:p>
                      <a:pPr algn="ctr"/>
                      <a:r>
                        <a:rPr lang="he-IL" dirty="0"/>
                        <a:t>0.1</a:t>
                      </a:r>
                      <a:r>
                        <a:rPr lang="en-US" dirty="0"/>
                        <a:t>73</a:t>
                      </a:r>
                      <a:r>
                        <a:rPr lang="he-IL" dirty="0"/>
                        <a:t>3</a:t>
                      </a:r>
                      <a:endParaRPr lang="LID4096" dirty="0"/>
                    </a:p>
                  </a:txBody>
                  <a:tcPr/>
                </a:tc>
                <a:extLst>
                  <a:ext uri="{0D108BD9-81ED-4DB2-BD59-A6C34878D82A}">
                    <a16:rowId xmlns:a16="http://schemas.microsoft.com/office/drawing/2014/main" val="4036118027"/>
                  </a:ext>
                </a:extLst>
              </a:tr>
            </a:tbl>
          </a:graphicData>
        </a:graphic>
      </p:graphicFrame>
    </p:spTree>
    <p:extLst>
      <p:ext uri="{BB962C8B-B14F-4D97-AF65-F5344CB8AC3E}">
        <p14:creationId xmlns:p14="http://schemas.microsoft.com/office/powerpoint/2010/main" val="4102182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0F911C-7F07-6636-D3AB-56E6C4EAFF7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1A1BAE-BC24-352A-F517-328AD1709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63F4C339-ABC8-0468-B914-1254A280B0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A43869F6-933F-6CEB-34B9-DC14CD633E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E87423F-437D-3625-D9BA-7E35834297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CAA6016-BE88-24AF-4861-652CCA483D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411E39B-6BD3-A7AF-2F01-E2EE03EAC5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814C2C-B612-C050-C2F4-E0C987505D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EBED86-41F7-CC00-A434-994FB6BBB3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3F5F6DF-EFDD-B2BB-D840-03CE01CA03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2FCB7EA-1D07-E979-C0BA-652073F1E3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8073599-E935-FBCA-3362-9FE8BFFB83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A036093-1355-BA59-367D-2C2E8D5F87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8A3D0DC-53AF-30DF-6267-76471B70D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F4619AF-A90B-8CC7-9F14-A98E96C4CF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118343-74C3-84E9-E095-6BD8496E52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DF46DE-766D-76DB-F6FB-B7B767D900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DA84676-D38D-0817-4FD5-5825CAB0D5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DEA488-AB49-D33E-75C0-F753908D08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FA05AA7-5D34-266C-FDE7-50A491C83B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37C3471-1D79-A20B-1F78-FB6CD6F49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E1464CA-44C5-B8DB-6E5A-ED9E6690CB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F4E111-E5DE-B44F-BEFC-96CD255DE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176648D-C5D5-5974-2398-A3255AD38C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21D34B-CE61-A5CB-10DB-479DE9D867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4598CEC-D766-B54E-854A-3109BC0E63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1177E8F-68C1-00E2-0DA3-95451CE97A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FAE188-6677-5CAC-C4AE-868F1CE98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A9B5E1-1442-5016-D85E-314CD872A8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77CC91-A892-0B5C-C07F-2FBE96AC29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F433816-F195-F31C-1CB4-7A28ABE598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915DB14-CFBD-DAD2-8B59-0CFE26E2A2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924D071-1F0D-35DC-F18B-EB81CC3C59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4B4BAE5-3A83-00E1-FF58-DE5FD8EF90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3B67CC3-1CC5-5550-8067-3368BA9D536C}"/>
              </a:ext>
            </a:extLst>
          </p:cNvPr>
          <p:cNvSpPr>
            <a:spLocks noGrp="1"/>
          </p:cNvSpPr>
          <p:nvPr>
            <p:ph type="ctrTitle"/>
          </p:nvPr>
        </p:nvSpPr>
        <p:spPr>
          <a:xfrm>
            <a:off x="289462" y="3328142"/>
            <a:ext cx="5569817" cy="2862385"/>
          </a:xfrm>
        </p:spPr>
        <p:txBody>
          <a:bodyPr>
            <a:noAutofit/>
          </a:bodyPr>
          <a:lstStyle/>
          <a:p>
            <a:r>
              <a:rPr lang="en-US" sz="2000" dirty="0">
                <a:latin typeface="Arial" panose="020B0604020202020204" pitchFamily="34" charset="0"/>
                <a:cs typeface="Arial" panose="020B0604020202020204" pitchFamily="34" charset="0"/>
              </a:rPr>
              <a:t>To generate highly reliable wound segmentation masks, we trained and evaluated an </a:t>
            </a:r>
            <a:r>
              <a:rPr lang="en-US" sz="2000" b="1" dirty="0">
                <a:latin typeface="Arial" panose="020B0604020202020204" pitchFamily="34" charset="0"/>
                <a:cs typeface="Arial" panose="020B0604020202020204" pitchFamily="34" charset="0"/>
              </a:rPr>
              <a:t>FPN with a ResNet-50 backbone </a:t>
            </a:r>
            <a:r>
              <a:rPr lang="he-IL" sz="2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 multi-scale segmentation architecture enhanced with channel-wise attention and dropout regularization for improved robustness.</a:t>
            </a:r>
            <a:br>
              <a:rPr lang="he-IL"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43" name="Right Triangle 42">
            <a:extLst>
              <a:ext uri="{FF2B5EF4-FFF2-40B4-BE49-F238E27FC236}">
                <a16:creationId xmlns:a16="http://schemas.microsoft.com/office/drawing/2014/main" id="{EB5F72A7-EE66-5170-BDC4-525F15EEC8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8FEC1E2F-9374-5DDA-8794-B8B020885951}"/>
              </a:ext>
            </a:extLst>
          </p:cNvPr>
          <p:cNvPicPr>
            <a:picLocks noChangeAspect="1"/>
          </p:cNvPicPr>
          <p:nvPr/>
        </p:nvPicPr>
        <p:blipFill>
          <a:blip r:embed="rId2"/>
          <a:srcRect l="12834" r="25362"/>
          <a:stretch>
            <a:fillRect/>
          </a:stretch>
        </p:blipFill>
        <p:spPr>
          <a:xfrm>
            <a:off x="5715004" y="-1554"/>
            <a:ext cx="6467618"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D7383B7A-BEBE-D014-4701-A6D5BBE31EEB}"/>
              </a:ext>
            </a:extLst>
          </p:cNvPr>
          <p:cNvSpPr txBox="1">
            <a:spLocks/>
          </p:cNvSpPr>
          <p:nvPr/>
        </p:nvSpPr>
        <p:spPr>
          <a:xfrm>
            <a:off x="192528" y="-1701502"/>
            <a:ext cx="7577691" cy="3203557"/>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LID4096" altLang="LID4096" sz="3600" b="1" dirty="0">
                <a:solidFill>
                  <a:schemeClr val="tx1"/>
                </a:solidFill>
                <a:latin typeface="Arial" panose="020B0604020202020204" pitchFamily="34" charset="0"/>
              </a:rPr>
              <a:t>Automatic Mask Generation</a:t>
            </a:r>
            <a:br>
              <a:rPr lang="en-US" sz="2800" dirty="0"/>
            </a:br>
            <a:endParaRPr lang="LID4096" sz="2800" dirty="0"/>
          </a:p>
        </p:txBody>
      </p:sp>
    </p:spTree>
    <p:extLst>
      <p:ext uri="{BB962C8B-B14F-4D97-AF65-F5344CB8AC3E}">
        <p14:creationId xmlns:p14="http://schemas.microsoft.com/office/powerpoint/2010/main" val="95086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B298CF-F520-25E0-4516-0904D0E22B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A0B13E-14A5-AA27-B595-EBDD6E652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E49DAED8-5732-CD7E-EE01-896303481F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2D5981F7-A0E5-EB36-9958-F4A4E375F6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43693B-6699-45C7-BF5A-78DC468D3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332DEAF-B05D-55AE-B595-E68051365F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93EC661-556B-80F9-35A3-8EC0D06EC7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5217202-0693-2CC7-272D-06B3CF470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4265C5-92AD-487B-7BE0-3A781502D6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04B848A-C809-41F3-CBA2-1A368EEF49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70D9829-BBA1-9FF9-6BBD-A58E570630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07EF40B-CCF3-8305-BFD0-F8BAC82A15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D25B28-1FB9-6E89-993E-A8F011560D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B7FA1A2-C773-1EF9-BBB0-C0AB737FE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01232AE-331A-7474-AC80-7EBE04EC1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F8B088-5D65-3B9E-7959-9502905BC8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A148C43-D9E1-1484-A5F5-0F51173973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831A7A1-0E1B-8AA9-1D9C-6B164E61D9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0BE417D-BCC8-043E-0B6F-67EFC49698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C104577-ADF7-822D-A416-485311BD95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775A658-A0E9-58B6-E839-6CCA110D53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AFC4ABA-6E20-B9D9-1E60-F220FF0ED0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B7F4DE6-1B03-974F-EE74-30D00853A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874F919-9398-32D1-2FCC-CA542E0D3F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E16A927-AD36-5EFC-B1C2-471EA92138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936440-7424-5AC3-9E7B-713503459C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85BDE7E-4DEA-452E-0FF0-B246978EB9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91C25E-3E1B-8C81-AF95-3575F1CC17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18B2AF2-C926-62DE-9C32-855EFB05AD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17E2553-D4E0-97DC-0880-A463410A37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4C2D1A-E844-0E72-FCDD-3661E638C9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6DAF715-410F-00DC-99F5-8CBAA1E54F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61458FE-1501-FD5B-FD8A-D4A6FE5FA0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DF43A55-2BDD-A853-A2C0-260D493ABC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2831A251-BD11-F14C-70EA-7EF5CE2AC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D91BA182-7C4A-86B2-4B1F-C690DB62FE3D}"/>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0C416802-DA1C-0F1A-6817-2EDE7BCED01B}"/>
              </a:ext>
            </a:extLst>
          </p:cNvPr>
          <p:cNvSpPr txBox="1">
            <a:spLocks/>
          </p:cNvSpPr>
          <p:nvPr/>
        </p:nvSpPr>
        <p:spPr>
          <a:xfrm>
            <a:off x="-15321" y="-792928"/>
            <a:ext cx="7010764" cy="303494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r>
              <a:rPr lang="en-US" sz="4400" b="1" dirty="0"/>
              <a:t>FPN + ResNet50 Backbone</a:t>
            </a:r>
          </a:p>
          <a:p>
            <a:pPr>
              <a:lnSpc>
                <a:spcPct val="90000"/>
              </a:lnSpc>
            </a:pPr>
            <a:br>
              <a:rPr lang="en-US" sz="3400" dirty="0"/>
            </a:br>
            <a:endParaRPr lang="LID4096" sz="3400" dirty="0"/>
          </a:p>
        </p:txBody>
      </p:sp>
      <p:sp>
        <p:nvSpPr>
          <p:cNvPr id="3" name="Rectangle 1">
            <a:extLst>
              <a:ext uri="{FF2B5EF4-FFF2-40B4-BE49-F238E27FC236}">
                <a16:creationId xmlns:a16="http://schemas.microsoft.com/office/drawing/2014/main" id="{6A19982B-C3A8-878D-9E99-2545133C9181}"/>
              </a:ext>
            </a:extLst>
          </p:cNvPr>
          <p:cNvSpPr>
            <a:spLocks noGrp="1" noChangeArrowheads="1"/>
          </p:cNvSpPr>
          <p:nvPr>
            <p:ph type="ctrTitle"/>
          </p:nvPr>
        </p:nvSpPr>
        <p:spPr bwMode="auto">
          <a:xfrm>
            <a:off x="582259" y="2023997"/>
            <a:ext cx="522645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he-IL" altLang="LID4096"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LID4096" altLang="LID4096"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ResNet-50 feature extractor</a:t>
            </a:r>
            <a:r>
              <a:rPr kumimoji="0" lang="LID4096"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pretrained on ImageNet</a:t>
            </a:r>
            <a:br>
              <a:rPr kumimoji="0" lang="he-IL"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LID4096"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Aft>
                <a:spcPct val="0"/>
              </a:spcAft>
              <a:buFontTx/>
              <a:buChar char="•"/>
            </a:pPr>
            <a:r>
              <a:rPr kumimoji="0" lang="he-IL" altLang="LID4096"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FPN multi-scale decoder </a:t>
            </a:r>
            <a:r>
              <a:rPr lang="en-US" sz="1800" dirty="0">
                <a:latin typeface="Arial" panose="020B0604020202020204" pitchFamily="34" charset="0"/>
                <a:cs typeface="Arial" panose="020B0604020202020204" pitchFamily="34" charset="0"/>
              </a:rPr>
              <a:t>capturing both coarse and fine-grained wound structures</a:t>
            </a:r>
            <a:br>
              <a:rPr kumimoji="0" lang="he-IL"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LID4096"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Aft>
                <a:spcPct val="0"/>
              </a:spcAft>
              <a:buFontTx/>
              <a:buChar char="•"/>
            </a:pPr>
            <a:r>
              <a:rPr kumimoji="0" lang="he-IL"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Enhanced with lightweight channel-wise attention and dropout regularization to improve robustness and stability</a:t>
            </a:r>
            <a:br>
              <a:rPr kumimoji="0" lang="he-IL"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LID4096"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Aft>
                <a:spcPct val="0"/>
              </a:spcAft>
              <a:buFontTx/>
              <a:buChar char="•"/>
            </a:pPr>
            <a:r>
              <a:rPr kumimoji="0" lang="he-IL"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Trained using a consistent custom loss for fair cross-model comparison (Focal Tversky, Weighted BCE, Color Contrast) </a:t>
            </a:r>
            <a:endParaRPr kumimoji="0" lang="LID4096"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479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2D8B50-777F-1DBF-1756-7DEFD6DDEB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DF8C6E-7E61-F78F-916F-7CADB165B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A667AD69-DFEB-FB8D-9DAF-DFA1224CA7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D73F5C15-8F30-7DB1-0B6F-0D30CA4826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BCCF93C-F701-0085-9E48-B7587113A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6278EC3-2243-9EA9-4B6C-486CD1623C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FAE223-0D1B-FA0E-8D1F-BFC890C66C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5EB7BEA-95AB-7366-2831-FD716C71D5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1C1B2CC-9967-368D-B67A-E4C7728E8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CB0937-9F34-D9E1-3B87-80FA795DAD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0EF6CEF-0ABA-DEDD-B0EE-A1656DF0EE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EAA66CE-F68C-02D8-BAB1-1B46BAFF1E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DABB7A-7698-30D1-B601-877A7DC077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1A5C192-8258-549A-03B6-9C7DA43A4C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6AC91FB-EAB3-E33E-2CB6-A08C161460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1A1FC9-1709-CD8F-2BDD-F44686F22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130143C-CE7D-045F-7B73-EF3930E4E8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BC3BBB0-2373-A7A0-E7D7-3A4317703E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AFC0E73-D29C-2DEF-C1C0-8F0706C2BF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C1413DB-307A-B064-C198-070B0AD33E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66D9B0D-2FE1-340C-61E8-805EE79741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9263FAA-A02B-4F82-A74D-AC1BF3A230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B0CBA49-1A0C-ECBE-1D06-4628CFE0C8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63A7983-1CD3-7432-AED6-2362858973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5681E59-B5D9-4445-48A9-2C92C84854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E79A3E3-6B1C-8242-8E67-C097E0AA90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4BFF3DC-8F2E-C79D-F289-5A283A58E3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4B1C6C0-339C-387F-7862-08563525F5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328AC85-F922-E4C6-57FC-69BBA3550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C409A37-E6F4-C5E6-3E9B-04E009F965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81A0AE0-6B7F-D4C7-0DD1-3BC031DCA4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AA856DB-0414-3A8F-F68C-3DCD315BF0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77D1E22-D43F-EB95-FA6B-660B605357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9D2477D-804E-45B3-ADCC-5BC1CC8E21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BB4A4BD5-E512-6153-D6B4-88B7A1080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D86E39E0-ECA4-9EB4-E349-B9EBA2B79549}"/>
              </a:ext>
            </a:extLst>
          </p:cNvPr>
          <p:cNvPicPr>
            <a:picLocks noChangeAspect="1"/>
          </p:cNvPicPr>
          <p:nvPr/>
        </p:nvPicPr>
        <p:blipFill>
          <a:blip r:embed="rId2"/>
          <a:srcRect l="12834" r="25362"/>
          <a:stretch>
            <a:fillRect/>
          </a:stretch>
        </p:blipFill>
        <p:spPr>
          <a:xfrm>
            <a:off x="7024685" y="-1554"/>
            <a:ext cx="5157936"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D43AAB9A-2343-8A43-4B37-FBB1F2F627EF}"/>
              </a:ext>
            </a:extLst>
          </p:cNvPr>
          <p:cNvSpPr txBox="1">
            <a:spLocks/>
          </p:cNvSpPr>
          <p:nvPr/>
        </p:nvSpPr>
        <p:spPr>
          <a:xfrm>
            <a:off x="-42113" y="-1075109"/>
            <a:ext cx="7431105" cy="303494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r>
              <a:rPr lang="en-US" sz="3200" b="1" dirty="0"/>
              <a:t>FPN + ResNet50 Backbone</a:t>
            </a:r>
            <a:r>
              <a:rPr lang="he-IL" sz="3200" b="1" dirty="0"/>
              <a:t> </a:t>
            </a:r>
            <a:r>
              <a:rPr lang="en-US" sz="3200" b="1" dirty="0"/>
              <a:t>- Structure</a:t>
            </a:r>
          </a:p>
          <a:p>
            <a:pPr>
              <a:lnSpc>
                <a:spcPct val="90000"/>
              </a:lnSpc>
            </a:pPr>
            <a:br>
              <a:rPr lang="en-US" sz="3200" dirty="0"/>
            </a:br>
            <a:endParaRPr lang="LID4096" sz="3200" dirty="0"/>
          </a:p>
        </p:txBody>
      </p:sp>
      <p:pic>
        <p:nvPicPr>
          <p:cNvPr id="7" name="Picture 6">
            <a:extLst>
              <a:ext uri="{FF2B5EF4-FFF2-40B4-BE49-F238E27FC236}">
                <a16:creationId xmlns:a16="http://schemas.microsoft.com/office/drawing/2014/main" id="{EE14CBC7-6343-2DAD-243C-FBDCBCA849FA}"/>
              </a:ext>
            </a:extLst>
          </p:cNvPr>
          <p:cNvPicPr>
            <a:picLocks noChangeAspect="1"/>
          </p:cNvPicPr>
          <p:nvPr/>
        </p:nvPicPr>
        <p:blipFill>
          <a:blip r:embed="rId3"/>
          <a:stretch>
            <a:fillRect/>
          </a:stretch>
        </p:blipFill>
        <p:spPr>
          <a:xfrm>
            <a:off x="-25875" y="1726874"/>
            <a:ext cx="7050560" cy="5227746"/>
          </a:xfrm>
          <a:prstGeom prst="rect">
            <a:avLst/>
          </a:prstGeom>
        </p:spPr>
      </p:pic>
    </p:spTree>
    <p:extLst>
      <p:ext uri="{BB962C8B-B14F-4D97-AF65-F5344CB8AC3E}">
        <p14:creationId xmlns:p14="http://schemas.microsoft.com/office/powerpoint/2010/main" val="1907155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4F67D1-C9F0-E921-9416-F68243C4F6D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46BC027-B3A0-145F-8284-1F50819A2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5585555F-51E7-CD3E-7EA8-AEC38C6563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4295111B-8659-3278-2431-2396B3BD5C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4E4C875-9E08-2BE7-59E4-70F84E0D0C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5BB73DD-10A0-953E-8605-D0687BF726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3FDDC0-0552-789F-D4C2-B18E7B181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214F93-444A-F77A-0496-9C0A2E7BEA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6C6802-F136-BB9D-2CD6-EA345CDF9C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7532AB-D796-CA87-3E84-96036F2E37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812BB4-1A52-94BB-C725-00532A7F8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437550-55D2-5D4B-611F-E8D9B70E43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5CB93B-9622-E80B-11EF-D96D3D6F76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EADB5A-0E05-8614-78EE-E531D875B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5FEEB22-E794-C7E3-ED73-AFFF9D24C1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5201BC7-54B7-7A70-CCC5-44A30F7218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8F655C5-00E1-FA1F-109A-4E1BFDE1DB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CDB9445-2C20-C1A3-D247-2EFF4CE7AA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F9BEC9-B5E8-B809-AB99-8D32FB1DB0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82FA7C-3D6E-8B41-0071-EEEE2C22DC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E0B3A23-7E94-4BCC-8304-C8096B3ACC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641A4E5-75D8-4E16-3D1A-210AF3803A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247FD1E-0F46-0962-BEF7-34EC380D2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922A90F-30AB-20D9-48E1-C4A03C2C40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51D0B78-3E53-5B42-50CC-9BB42FC70F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3AF3416-65DA-D89D-F556-ADA9B9DDAE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F21ADE1-069A-5BDC-A549-254622F96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CDD0B26-8B1A-2C40-463B-EFE01762EA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F076844-41CB-07DA-0598-287DD7B177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46BF2B2-5867-10EF-D5CC-B94BB96790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D114CBF-AAEB-E695-252D-DFE35743C3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1440689-EC3F-0354-A3CA-E612FCDFBC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6FA0BB9-0EB2-0F48-5312-D618DFF9BE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1F2A8D3-C615-FB42-5D8F-41E1EF4AFC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E2C031AC-9D16-DA3F-4891-D981E8EB6E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C9E539D8-7E64-C1D1-4297-BA2FA121E235}"/>
              </a:ext>
            </a:extLst>
          </p:cNvPr>
          <p:cNvPicPr>
            <a:picLocks noChangeAspect="1"/>
          </p:cNvPicPr>
          <p:nvPr/>
        </p:nvPicPr>
        <p:blipFill>
          <a:blip r:embed="rId2"/>
          <a:srcRect l="12834" r="25362"/>
          <a:stretch>
            <a:fillRect/>
          </a:stretch>
        </p:blipFill>
        <p:spPr>
          <a:xfrm>
            <a:off x="8850547" y="-1554"/>
            <a:ext cx="3332074"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B77EBF6F-1581-1648-2887-B46A978A3EF7}"/>
              </a:ext>
            </a:extLst>
          </p:cNvPr>
          <p:cNvSpPr txBox="1">
            <a:spLocks/>
          </p:cNvSpPr>
          <p:nvPr/>
        </p:nvSpPr>
        <p:spPr>
          <a:xfrm>
            <a:off x="-29040" y="-1206245"/>
            <a:ext cx="7431105" cy="303494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r>
              <a:rPr lang="en-US" sz="3200" b="1" dirty="0"/>
              <a:t>FPN + ResNet50 Backbone</a:t>
            </a:r>
            <a:r>
              <a:rPr lang="he-IL" sz="3200" b="1" dirty="0"/>
              <a:t> </a:t>
            </a:r>
            <a:r>
              <a:rPr lang="en-US" sz="3200" b="1" dirty="0"/>
              <a:t>Loss functions + Metrics</a:t>
            </a:r>
          </a:p>
          <a:p>
            <a:pPr>
              <a:lnSpc>
                <a:spcPct val="90000"/>
              </a:lnSpc>
            </a:pPr>
            <a:br>
              <a:rPr lang="en-US" sz="3200" dirty="0"/>
            </a:br>
            <a:endParaRPr lang="LID4096" sz="3200" dirty="0"/>
          </a:p>
        </p:txBody>
      </p:sp>
      <p:pic>
        <p:nvPicPr>
          <p:cNvPr id="3" name="Picture 2">
            <a:extLst>
              <a:ext uri="{FF2B5EF4-FFF2-40B4-BE49-F238E27FC236}">
                <a16:creationId xmlns:a16="http://schemas.microsoft.com/office/drawing/2014/main" id="{470194DA-5A5A-9F06-0B5B-5A0C5D82DB5A}"/>
              </a:ext>
            </a:extLst>
          </p:cNvPr>
          <p:cNvPicPr>
            <a:picLocks noChangeAspect="1"/>
          </p:cNvPicPr>
          <p:nvPr/>
        </p:nvPicPr>
        <p:blipFill>
          <a:blip r:embed="rId3"/>
          <a:stretch>
            <a:fillRect/>
          </a:stretch>
        </p:blipFill>
        <p:spPr>
          <a:xfrm>
            <a:off x="-9379" y="997288"/>
            <a:ext cx="8859926" cy="5860711"/>
          </a:xfrm>
          <a:prstGeom prst="rect">
            <a:avLst/>
          </a:prstGeom>
        </p:spPr>
      </p:pic>
    </p:spTree>
    <p:extLst>
      <p:ext uri="{BB962C8B-B14F-4D97-AF65-F5344CB8AC3E}">
        <p14:creationId xmlns:p14="http://schemas.microsoft.com/office/powerpoint/2010/main" val="147511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E63695-666C-8F0F-F9FF-476A4C28ADC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E4FA9F5-8DF5-B904-652A-C33A36623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7C41459E-CD65-92E6-9F52-6360221301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73426214-3059-FD3A-3774-2518AE88C0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310D022-378B-8796-25C5-DE311F48F2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D0F151C-C2F1-2200-5822-04FABAF975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489B21E-A380-7AE1-3568-3D86752716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EF2108-B2A9-D6A5-913A-48C09D73EA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26FA73-B2AF-E98D-58E9-D636D4EC25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4DC94D8-D73D-3DF1-5E86-8268D432C8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E87650F-AA83-8DC5-1E81-A0F77434C8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A62FE5B-26C5-0FB6-EE5D-F679BA55FE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817F68E-69E8-8852-8202-6CC238CE28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4758047-D611-65EF-3C45-B9FDC0BF19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E0D10EB-932F-F56B-AEC5-19A1AA0903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0A7A5AA-CD35-E1E9-B014-2806FEB2F4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468FF1F-725A-21CE-94A2-5FBAD89628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E1C13AB-3E2D-2D69-3DFC-84735FEE29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956BEDC-07AC-DC6B-1DDB-B98A14C97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36D8CC4-0F12-24FE-C6BF-63A3CF9EA3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5029CFB-98FD-9D87-DD69-BB542182E4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2B7706A-842A-A918-49F3-447C4898B0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10451C-B468-C83A-AC90-B37A0C5193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0BC228F-F586-FC97-6947-AD35DED544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304FABC-B329-6248-FB36-AF820B5D51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EDDB8A8-DA38-179F-37ED-1D273FB3E0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F481DE3-9B96-5EB7-CFFA-852A4FE52B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7090BFD-BB31-25BF-81E1-A06636494B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8490A6F-E4CB-2852-5225-B18AD2235E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9EAA59-B154-559A-1769-AAB7130664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28E0A02-93BA-76C3-D287-6020E8AD87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07AE41F-908E-2FCA-2551-D0FAF3330E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12C581C-B429-AE98-C2C0-C8111BD17C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64BD40A-DCA2-0791-FA6C-6D2CD9E7EE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92AF148B-8CF0-59A3-0779-5CDEA08A3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9E9A26CE-F064-5422-99A5-97D0F2CEDFD9}"/>
              </a:ext>
            </a:extLst>
          </p:cNvPr>
          <p:cNvPicPr>
            <a:picLocks noChangeAspect="1"/>
          </p:cNvPicPr>
          <p:nvPr/>
        </p:nvPicPr>
        <p:blipFill>
          <a:blip r:embed="rId2"/>
          <a:srcRect l="12834" r="25362"/>
          <a:stretch>
            <a:fillRect/>
          </a:stretch>
        </p:blipFill>
        <p:spPr>
          <a:xfrm>
            <a:off x="7744088" y="-1554"/>
            <a:ext cx="4438533"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E29104DD-8149-E206-1DA8-6E59CB9D435C}"/>
              </a:ext>
            </a:extLst>
          </p:cNvPr>
          <p:cNvSpPr txBox="1">
            <a:spLocks/>
          </p:cNvSpPr>
          <p:nvPr/>
        </p:nvSpPr>
        <p:spPr>
          <a:xfrm>
            <a:off x="-29040" y="-1206245"/>
            <a:ext cx="7431105" cy="303494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r>
              <a:rPr lang="en-US" sz="3200" b="1" dirty="0"/>
              <a:t>FPN + ResNet50 - Backbone</a:t>
            </a:r>
            <a:r>
              <a:rPr lang="he-IL" sz="3200" b="1" dirty="0"/>
              <a:t> </a:t>
            </a:r>
            <a:r>
              <a:rPr lang="en-US" sz="3200" b="1" dirty="0"/>
              <a:t>Loss functions + Metrics</a:t>
            </a:r>
          </a:p>
          <a:p>
            <a:pPr>
              <a:lnSpc>
                <a:spcPct val="90000"/>
              </a:lnSpc>
            </a:pPr>
            <a:br>
              <a:rPr lang="en-US" sz="3200" dirty="0"/>
            </a:br>
            <a:endParaRPr lang="LID4096" sz="3200" dirty="0"/>
          </a:p>
        </p:txBody>
      </p:sp>
      <p:pic>
        <p:nvPicPr>
          <p:cNvPr id="6" name="Picture 5">
            <a:extLst>
              <a:ext uri="{FF2B5EF4-FFF2-40B4-BE49-F238E27FC236}">
                <a16:creationId xmlns:a16="http://schemas.microsoft.com/office/drawing/2014/main" id="{615AC7E3-B65A-573E-EC29-E92D7A350574}"/>
              </a:ext>
            </a:extLst>
          </p:cNvPr>
          <p:cNvPicPr>
            <a:picLocks noChangeAspect="1"/>
          </p:cNvPicPr>
          <p:nvPr/>
        </p:nvPicPr>
        <p:blipFill>
          <a:blip r:embed="rId3"/>
          <a:stretch>
            <a:fillRect/>
          </a:stretch>
        </p:blipFill>
        <p:spPr>
          <a:xfrm>
            <a:off x="-19661" y="1038516"/>
            <a:ext cx="7734709" cy="5989645"/>
          </a:xfrm>
          <a:prstGeom prst="rect">
            <a:avLst/>
          </a:prstGeom>
        </p:spPr>
      </p:pic>
    </p:spTree>
    <p:extLst>
      <p:ext uri="{BB962C8B-B14F-4D97-AF65-F5344CB8AC3E}">
        <p14:creationId xmlns:p14="http://schemas.microsoft.com/office/powerpoint/2010/main" val="613231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A834F5-8E35-C6C7-6D29-C8E619DC22F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FE3203-50E0-0B4A-07CA-FFA1577D7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749D8FF5-22AF-5951-2812-868AB5751A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49ACD453-9752-56F0-28FE-165336DAC6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B1ED9D8-F93B-A152-69EF-C4395672B6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1F67008-BAF0-567C-54A3-9D2190E63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1E77EB-2C0E-7534-50D2-72E959296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48824AB-63C5-C027-3C9E-A119199B49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93E36C-19B3-0B73-954E-EA3BCBC76C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88342F0-B7B8-335B-397D-169F0A63D7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5F13422-B32F-8016-46F8-4DED42309D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A2AD80-66CB-12E0-49C1-B46BB4857D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587769F-9244-F67D-EBB2-A3A3780DBB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7AEE3E3-AA45-8B25-ED85-4E14389BC9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3DC3C9F-7AE1-BAFB-209F-21BFA218BE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DA76B35-0AED-5FA5-8467-9A43C1CAE9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868204-7D92-7C02-8204-988E8B662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F7F04A9-DCC9-9EBC-F1E1-9908E39B0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7A22728-AACA-4DEC-C7E7-EB7BF008EF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72AF208-98C7-7718-D67D-A7771F68FB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D917299-3984-92FA-B765-63F7E91409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0C1C79A-F19D-20E2-AE55-B130C52014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A1B13A6-3B87-C430-390B-FE0F8A6A1B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5A195CA-8AB2-184D-7D03-42E6D0787B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56457AF-EB20-6CF1-D336-348A30FC86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A584A6F-A8AE-3F43-66A2-4073272234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14C52B4-8866-B8C1-ECBD-13088AC2B4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A63B383-BEF2-E7D2-79FF-03966087E1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0EAB012-77DC-5F7A-36F7-EC94482AF4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976518-BE13-93DB-82C3-E41AA7886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5C9473-EB53-88E2-31CA-B6A8F5B8C0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F6015B-5EC2-64CD-6BB3-6BD809DDC7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1876C8B-AA7C-E54D-59DD-ED166CCB1F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A473ECC-23E4-494F-E09D-6BE484B119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8E3C4704-D8F5-0D52-1213-BC1F07767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CD9043FE-9968-3B2F-FCDC-EC2227EC5E97}"/>
              </a:ext>
            </a:extLst>
          </p:cNvPr>
          <p:cNvPicPr>
            <a:picLocks noChangeAspect="1"/>
          </p:cNvPicPr>
          <p:nvPr/>
        </p:nvPicPr>
        <p:blipFill>
          <a:blip r:embed="rId3"/>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60B1747A-C782-D850-D699-6F8EA7247672}"/>
              </a:ext>
            </a:extLst>
          </p:cNvPr>
          <p:cNvSpPr txBox="1">
            <a:spLocks/>
          </p:cNvSpPr>
          <p:nvPr/>
        </p:nvSpPr>
        <p:spPr>
          <a:xfrm>
            <a:off x="-30741" y="-1266788"/>
            <a:ext cx="7010764" cy="303494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r>
              <a:rPr lang="en-US" sz="4400" b="1" dirty="0"/>
              <a:t>FPN + ResNet50 Backbone</a:t>
            </a:r>
          </a:p>
          <a:p>
            <a:pPr>
              <a:lnSpc>
                <a:spcPct val="90000"/>
              </a:lnSpc>
            </a:pPr>
            <a:br>
              <a:rPr lang="en-US" sz="3400" dirty="0"/>
            </a:br>
            <a:endParaRPr lang="LID4096" sz="3400" dirty="0"/>
          </a:p>
        </p:txBody>
      </p:sp>
      <p:pic>
        <p:nvPicPr>
          <p:cNvPr id="6" name="Picture 5">
            <a:extLst>
              <a:ext uri="{FF2B5EF4-FFF2-40B4-BE49-F238E27FC236}">
                <a16:creationId xmlns:a16="http://schemas.microsoft.com/office/drawing/2014/main" id="{5E60CBC2-C122-C341-99E4-FD80717BB625}"/>
              </a:ext>
            </a:extLst>
          </p:cNvPr>
          <p:cNvPicPr>
            <a:picLocks noChangeAspect="1"/>
          </p:cNvPicPr>
          <p:nvPr/>
        </p:nvPicPr>
        <p:blipFill>
          <a:blip r:embed="rId4"/>
          <a:stretch>
            <a:fillRect/>
          </a:stretch>
        </p:blipFill>
        <p:spPr>
          <a:xfrm>
            <a:off x="30742" y="941937"/>
            <a:ext cx="6090153" cy="3229450"/>
          </a:xfrm>
          <a:prstGeom prst="rect">
            <a:avLst/>
          </a:prstGeom>
        </p:spPr>
      </p:pic>
      <p:pic>
        <p:nvPicPr>
          <p:cNvPr id="9" name="Picture 8">
            <a:extLst>
              <a:ext uri="{FF2B5EF4-FFF2-40B4-BE49-F238E27FC236}">
                <a16:creationId xmlns:a16="http://schemas.microsoft.com/office/drawing/2014/main" id="{FEF5770A-73C5-6EFD-7AAC-18E16CCDEBDD}"/>
              </a:ext>
            </a:extLst>
          </p:cNvPr>
          <p:cNvPicPr>
            <a:picLocks noChangeAspect="1"/>
          </p:cNvPicPr>
          <p:nvPr/>
        </p:nvPicPr>
        <p:blipFill>
          <a:blip r:embed="rId5"/>
          <a:srcRect t="3039"/>
          <a:stretch>
            <a:fillRect/>
          </a:stretch>
        </p:blipFill>
        <p:spPr>
          <a:xfrm>
            <a:off x="10282" y="4343102"/>
            <a:ext cx="6090149" cy="2439829"/>
          </a:xfrm>
          <a:prstGeom prst="rect">
            <a:avLst/>
          </a:prstGeom>
        </p:spPr>
      </p:pic>
    </p:spTree>
    <p:extLst>
      <p:ext uri="{BB962C8B-B14F-4D97-AF65-F5344CB8AC3E}">
        <p14:creationId xmlns:p14="http://schemas.microsoft.com/office/powerpoint/2010/main" val="2274759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B6A782-6515-7E98-B897-96829D35A41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38FAB9-F0F5-FB73-B4B3-AE9E62B308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BD20C63A-4CC5-81C5-A178-6B626E649E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8C28EED0-4F9B-F4E5-E8B5-4D4D3CE57E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818232-9BDD-4FEF-10D6-B147D2A50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54FB735-5D71-5BD8-1F80-4CA0E4B8E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EB450AD-F11B-E27E-CE13-5E162C7CDC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FD7B8A0-79D9-EDC3-3974-BF14E7E896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8F1C6CD-6224-FCE5-CE5F-825DBCE06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A989996-D14F-59E8-3A55-00B2F2774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551007B-76A4-4ACA-0942-954E946C97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6BFDC79-01C6-AA16-3049-7FC972D3D3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FFCE56F-0638-6969-845B-8D52A9FF8F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AA84FFC-F905-792F-F67A-9877E2F84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66ADBA-A4CB-988D-8FC8-5CCA9EB323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786E15-5336-43D8-7599-82764131A3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FD633C5-FA83-DF58-398A-F879AA7CAC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D44B718-0628-BA51-7DDA-6D0AAD0A95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A5C1AE5-6EF8-9C4F-4BC5-8EA97141D8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FFB6085-AC24-A22B-C5D4-94B8302C01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850F475-0E97-C51E-5918-2D7970520D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E4485D2-5CA9-7219-4025-231187BA19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07652A5-BD94-4B03-B4A3-830DD4C728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4E79C7B-0DA7-0AA5-B27A-77DCDF950D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E977D7-9563-77BB-CC0C-06016EA0AE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B129481-4EEA-ADAF-F95E-B143A3FE9D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0A0F4EA-B776-4532-2EAC-B517536A28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A2B1993-04AB-CA67-A50E-5CECDE338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1638CFC-BB56-414C-513A-A3B411AF0B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78B5BA3-977A-871D-1D88-2E7FBC7772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500F510-D29B-3213-C6AD-271EC9ABDE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D7A41B8-148F-9131-B3FA-6878E999CE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4D2E23E-0130-415E-2EEE-B1FA918CF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179AC90-D287-D716-43B4-B6EBC3DE73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59A8F61E-FEAC-FAC7-0B93-886E79609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1">
            <a:extLst>
              <a:ext uri="{FF2B5EF4-FFF2-40B4-BE49-F238E27FC236}">
                <a16:creationId xmlns:a16="http://schemas.microsoft.com/office/drawing/2014/main" id="{320F5F39-DF2E-0538-039C-61A91CA51E72}"/>
              </a:ext>
            </a:extLst>
          </p:cNvPr>
          <p:cNvSpPr txBox="1">
            <a:spLocks/>
          </p:cNvSpPr>
          <p:nvPr/>
        </p:nvSpPr>
        <p:spPr>
          <a:xfrm>
            <a:off x="2840112" y="-1831844"/>
            <a:ext cx="7684905" cy="3292523"/>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3600" b="1" dirty="0">
                <a:latin typeface="Arial" panose="020B0604020202020204" pitchFamily="34" charset="0"/>
                <a:cs typeface="Arial" panose="020B0604020202020204" pitchFamily="34" charset="0"/>
              </a:rPr>
              <a:t>Model Performance Summary</a:t>
            </a:r>
            <a:br>
              <a:rPr lang="en-US" sz="2800" b="1" dirty="0">
                <a:latin typeface="Arial" panose="020B0604020202020204" pitchFamily="34" charset="0"/>
                <a:cs typeface="Arial" panose="020B0604020202020204" pitchFamily="34" charset="0"/>
              </a:rPr>
            </a:br>
            <a:endParaRPr lang="LID4096" sz="2800" b="1"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823E3B68-C6F6-B97E-D846-761A453E6197}"/>
              </a:ext>
            </a:extLst>
          </p:cNvPr>
          <p:cNvGraphicFramePr>
            <a:graphicFrameLocks noGrp="1"/>
          </p:cNvGraphicFramePr>
          <p:nvPr>
            <p:extLst>
              <p:ext uri="{D42A27DB-BD31-4B8C-83A1-F6EECF244321}">
                <p14:modId xmlns:p14="http://schemas.microsoft.com/office/powerpoint/2010/main" val="1704696121"/>
              </p:ext>
            </p:extLst>
          </p:nvPr>
        </p:nvGraphicFramePr>
        <p:xfrm>
          <a:off x="391184" y="2163106"/>
          <a:ext cx="9052449" cy="1691496"/>
        </p:xfrm>
        <a:graphic>
          <a:graphicData uri="http://schemas.openxmlformats.org/drawingml/2006/table">
            <a:tbl>
              <a:tblPr firstRow="1" bandRow="1">
                <a:tableStyleId>{5C22544A-7EE6-4342-B048-85BDC9FD1C3A}</a:tableStyleId>
              </a:tblPr>
              <a:tblGrid>
                <a:gridCol w="1293207">
                  <a:extLst>
                    <a:ext uri="{9D8B030D-6E8A-4147-A177-3AD203B41FA5}">
                      <a16:colId xmlns:a16="http://schemas.microsoft.com/office/drawing/2014/main" val="1611339682"/>
                    </a:ext>
                  </a:extLst>
                </a:gridCol>
                <a:gridCol w="1293207">
                  <a:extLst>
                    <a:ext uri="{9D8B030D-6E8A-4147-A177-3AD203B41FA5}">
                      <a16:colId xmlns:a16="http://schemas.microsoft.com/office/drawing/2014/main" val="1968328846"/>
                    </a:ext>
                  </a:extLst>
                </a:gridCol>
                <a:gridCol w="1293207">
                  <a:extLst>
                    <a:ext uri="{9D8B030D-6E8A-4147-A177-3AD203B41FA5}">
                      <a16:colId xmlns:a16="http://schemas.microsoft.com/office/drawing/2014/main" val="1653976815"/>
                    </a:ext>
                  </a:extLst>
                </a:gridCol>
                <a:gridCol w="1293207">
                  <a:extLst>
                    <a:ext uri="{9D8B030D-6E8A-4147-A177-3AD203B41FA5}">
                      <a16:colId xmlns:a16="http://schemas.microsoft.com/office/drawing/2014/main" val="904370492"/>
                    </a:ext>
                  </a:extLst>
                </a:gridCol>
                <a:gridCol w="1293207">
                  <a:extLst>
                    <a:ext uri="{9D8B030D-6E8A-4147-A177-3AD203B41FA5}">
                      <a16:colId xmlns:a16="http://schemas.microsoft.com/office/drawing/2014/main" val="1123490742"/>
                    </a:ext>
                  </a:extLst>
                </a:gridCol>
                <a:gridCol w="1293207">
                  <a:extLst>
                    <a:ext uri="{9D8B030D-6E8A-4147-A177-3AD203B41FA5}">
                      <a16:colId xmlns:a16="http://schemas.microsoft.com/office/drawing/2014/main" val="3105842516"/>
                    </a:ext>
                  </a:extLst>
                </a:gridCol>
                <a:gridCol w="1293207">
                  <a:extLst>
                    <a:ext uri="{9D8B030D-6E8A-4147-A177-3AD203B41FA5}">
                      <a16:colId xmlns:a16="http://schemas.microsoft.com/office/drawing/2014/main" val="3027703667"/>
                    </a:ext>
                  </a:extLst>
                </a:gridCol>
              </a:tblGrid>
              <a:tr h="845748">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dirty="0"/>
                    </a:p>
                  </a:txBody>
                  <a:tcPr/>
                </a:tc>
                <a:tc>
                  <a:txBody>
                    <a:bodyPr/>
                    <a:lstStyle/>
                    <a:p>
                      <a:endParaRPr lang="LID4096"/>
                    </a:p>
                  </a:txBody>
                  <a:tcPr/>
                </a:tc>
                <a:tc>
                  <a:txBody>
                    <a:bodyPr/>
                    <a:lstStyle/>
                    <a:p>
                      <a:endParaRPr lang="LID4096"/>
                    </a:p>
                  </a:txBody>
                  <a:tcPr/>
                </a:tc>
                <a:extLst>
                  <a:ext uri="{0D108BD9-81ED-4DB2-BD59-A6C34878D82A}">
                    <a16:rowId xmlns:a16="http://schemas.microsoft.com/office/drawing/2014/main" val="2217438520"/>
                  </a:ext>
                </a:extLst>
              </a:tr>
              <a:tr h="845748">
                <a:tc>
                  <a:txBody>
                    <a:bodyPr/>
                    <a:lstStyle/>
                    <a:p>
                      <a:endParaRPr lang="LID4096"/>
                    </a:p>
                  </a:txBody>
                  <a:tcPr/>
                </a:tc>
                <a:tc>
                  <a:txBody>
                    <a:bodyPr/>
                    <a:lstStyle/>
                    <a:p>
                      <a:endParaRPr lang="LID4096" dirty="0"/>
                    </a:p>
                  </a:txBody>
                  <a:tcPr/>
                </a:tc>
                <a:tc>
                  <a:txBody>
                    <a:bodyPr/>
                    <a:lstStyle/>
                    <a:p>
                      <a:endParaRPr lang="LID4096" dirty="0"/>
                    </a:p>
                  </a:txBody>
                  <a:tcPr/>
                </a:tc>
                <a:tc>
                  <a:txBody>
                    <a:bodyPr/>
                    <a:lstStyle/>
                    <a:p>
                      <a:endParaRPr lang="LID4096"/>
                    </a:p>
                  </a:txBody>
                  <a:tcPr/>
                </a:tc>
                <a:tc>
                  <a:txBody>
                    <a:bodyPr/>
                    <a:lstStyle/>
                    <a:p>
                      <a:endParaRPr lang="LID4096"/>
                    </a:p>
                  </a:txBody>
                  <a:tcPr/>
                </a:tc>
                <a:tc>
                  <a:txBody>
                    <a:bodyPr/>
                    <a:lstStyle/>
                    <a:p>
                      <a:endParaRPr lang="LID4096"/>
                    </a:p>
                  </a:txBody>
                  <a:tcPr/>
                </a:tc>
                <a:tc>
                  <a:txBody>
                    <a:bodyPr/>
                    <a:lstStyle/>
                    <a:p>
                      <a:endParaRPr lang="LID4096" dirty="0"/>
                    </a:p>
                  </a:txBody>
                  <a:tcPr/>
                </a:tc>
                <a:extLst>
                  <a:ext uri="{0D108BD9-81ED-4DB2-BD59-A6C34878D82A}">
                    <a16:rowId xmlns:a16="http://schemas.microsoft.com/office/drawing/2014/main" val="1297226638"/>
                  </a:ext>
                </a:extLst>
              </a:tr>
            </a:tbl>
          </a:graphicData>
        </a:graphic>
      </p:graphicFrame>
      <p:graphicFrame>
        <p:nvGraphicFramePr>
          <p:cNvPr id="42" name="Table 41">
            <a:extLst>
              <a:ext uri="{FF2B5EF4-FFF2-40B4-BE49-F238E27FC236}">
                <a16:creationId xmlns:a16="http://schemas.microsoft.com/office/drawing/2014/main" id="{D32AC53D-AD46-36C6-2339-208C6C6EB080}"/>
              </a:ext>
            </a:extLst>
          </p:cNvPr>
          <p:cNvGraphicFramePr>
            <a:graphicFrameLocks noGrp="1"/>
          </p:cNvGraphicFramePr>
          <p:nvPr>
            <p:extLst>
              <p:ext uri="{D42A27DB-BD31-4B8C-83A1-F6EECF244321}">
                <p14:modId xmlns:p14="http://schemas.microsoft.com/office/powerpoint/2010/main" val="3559727405"/>
              </p:ext>
            </p:extLst>
          </p:nvPr>
        </p:nvGraphicFramePr>
        <p:xfrm>
          <a:off x="411765" y="2523375"/>
          <a:ext cx="9232769" cy="1110363"/>
        </p:xfrm>
        <a:graphic>
          <a:graphicData uri="http://schemas.openxmlformats.org/drawingml/2006/table">
            <a:tbl>
              <a:tblPr/>
              <a:tblGrid>
                <a:gridCol w="1318967">
                  <a:extLst>
                    <a:ext uri="{9D8B030D-6E8A-4147-A177-3AD203B41FA5}">
                      <a16:colId xmlns:a16="http://schemas.microsoft.com/office/drawing/2014/main" val="1185019926"/>
                    </a:ext>
                  </a:extLst>
                </a:gridCol>
                <a:gridCol w="1318967">
                  <a:extLst>
                    <a:ext uri="{9D8B030D-6E8A-4147-A177-3AD203B41FA5}">
                      <a16:colId xmlns:a16="http://schemas.microsoft.com/office/drawing/2014/main" val="2839428000"/>
                    </a:ext>
                  </a:extLst>
                </a:gridCol>
                <a:gridCol w="1318967">
                  <a:extLst>
                    <a:ext uri="{9D8B030D-6E8A-4147-A177-3AD203B41FA5}">
                      <a16:colId xmlns:a16="http://schemas.microsoft.com/office/drawing/2014/main" val="3207450193"/>
                    </a:ext>
                  </a:extLst>
                </a:gridCol>
                <a:gridCol w="1318967">
                  <a:extLst>
                    <a:ext uri="{9D8B030D-6E8A-4147-A177-3AD203B41FA5}">
                      <a16:colId xmlns:a16="http://schemas.microsoft.com/office/drawing/2014/main" val="2232220559"/>
                    </a:ext>
                  </a:extLst>
                </a:gridCol>
                <a:gridCol w="1318967">
                  <a:extLst>
                    <a:ext uri="{9D8B030D-6E8A-4147-A177-3AD203B41FA5}">
                      <a16:colId xmlns:a16="http://schemas.microsoft.com/office/drawing/2014/main" val="4100378746"/>
                    </a:ext>
                  </a:extLst>
                </a:gridCol>
                <a:gridCol w="1318967">
                  <a:extLst>
                    <a:ext uri="{9D8B030D-6E8A-4147-A177-3AD203B41FA5}">
                      <a16:colId xmlns:a16="http://schemas.microsoft.com/office/drawing/2014/main" val="1141940587"/>
                    </a:ext>
                  </a:extLst>
                </a:gridCol>
                <a:gridCol w="1318967">
                  <a:extLst>
                    <a:ext uri="{9D8B030D-6E8A-4147-A177-3AD203B41FA5}">
                      <a16:colId xmlns:a16="http://schemas.microsoft.com/office/drawing/2014/main" val="2418659824"/>
                    </a:ext>
                  </a:extLst>
                </a:gridCol>
              </a:tblGrid>
              <a:tr h="403768">
                <a:tc>
                  <a:txBody>
                    <a:bodyPr/>
                    <a:lstStyle/>
                    <a:p>
                      <a:pPr>
                        <a:buNone/>
                      </a:pPr>
                      <a:r>
                        <a:rPr lang="en-US" b="1" dirty="0">
                          <a:solidFill>
                            <a:schemeClr val="bg1"/>
                          </a:solidFill>
                        </a:rPr>
                        <a:t>Model</a:t>
                      </a:r>
                    </a:p>
                  </a:txBody>
                  <a:tcPr anchor="ctr">
                    <a:lnL>
                      <a:noFill/>
                    </a:lnL>
                    <a:lnR>
                      <a:noFill/>
                    </a:lnR>
                    <a:lnT>
                      <a:noFill/>
                    </a:lnT>
                    <a:lnB>
                      <a:noFill/>
                    </a:lnB>
                    <a:noFill/>
                  </a:tcPr>
                </a:tc>
                <a:tc>
                  <a:txBody>
                    <a:bodyPr/>
                    <a:lstStyle/>
                    <a:p>
                      <a:pPr>
                        <a:buNone/>
                      </a:pPr>
                      <a:r>
                        <a:rPr lang="en-US" sz="1800" b="1" dirty="0">
                          <a:solidFill>
                            <a:schemeClr val="bg1"/>
                          </a:solidFill>
                        </a:rPr>
                        <a:t>Epochs</a:t>
                      </a:r>
                    </a:p>
                  </a:txBody>
                  <a:tcPr anchor="ctr">
                    <a:lnL>
                      <a:noFill/>
                    </a:lnL>
                    <a:lnR>
                      <a:noFill/>
                    </a:lnR>
                    <a:lnT>
                      <a:noFill/>
                    </a:lnT>
                    <a:lnB>
                      <a:noFill/>
                    </a:lnB>
                    <a:noFill/>
                  </a:tcPr>
                </a:tc>
                <a:tc>
                  <a:txBody>
                    <a:bodyPr/>
                    <a:lstStyle/>
                    <a:p>
                      <a:pPr>
                        <a:buNone/>
                      </a:pPr>
                      <a:r>
                        <a:rPr lang="en-US" b="1" dirty="0">
                          <a:solidFill>
                            <a:schemeClr val="bg1"/>
                          </a:solidFill>
                        </a:rPr>
                        <a:t>Train Loss</a:t>
                      </a:r>
                    </a:p>
                  </a:txBody>
                  <a:tcPr anchor="ctr">
                    <a:lnL>
                      <a:noFill/>
                    </a:lnL>
                    <a:lnR>
                      <a:noFill/>
                    </a:lnR>
                    <a:lnT>
                      <a:noFill/>
                    </a:lnT>
                    <a:lnB>
                      <a:noFill/>
                    </a:lnB>
                    <a:noFill/>
                  </a:tcPr>
                </a:tc>
                <a:tc>
                  <a:txBody>
                    <a:bodyPr/>
                    <a:lstStyle/>
                    <a:p>
                      <a:pPr>
                        <a:buNone/>
                      </a:pPr>
                      <a:r>
                        <a:rPr lang="en-US" b="1" dirty="0">
                          <a:solidFill>
                            <a:schemeClr val="bg1"/>
                          </a:solidFill>
                        </a:rPr>
                        <a:t>Val Loss</a:t>
                      </a:r>
                    </a:p>
                  </a:txBody>
                  <a:tcPr anchor="ctr">
                    <a:lnL>
                      <a:noFill/>
                    </a:lnL>
                    <a:lnR>
                      <a:noFill/>
                    </a:lnR>
                    <a:lnT>
                      <a:noFill/>
                    </a:lnT>
                    <a:lnB>
                      <a:noFill/>
                    </a:lnB>
                    <a:noFill/>
                  </a:tcPr>
                </a:tc>
                <a:tc>
                  <a:txBody>
                    <a:bodyPr/>
                    <a:lstStyle/>
                    <a:p>
                      <a:pPr>
                        <a:buNone/>
                      </a:pPr>
                      <a:r>
                        <a:rPr lang="en-US" b="1" dirty="0" err="1">
                          <a:solidFill>
                            <a:schemeClr val="bg1"/>
                          </a:solidFill>
                        </a:rPr>
                        <a:t>IoU</a:t>
                      </a:r>
                      <a:endParaRPr lang="en-US" b="1" dirty="0">
                        <a:solidFill>
                          <a:schemeClr val="bg1"/>
                        </a:solidFill>
                      </a:endParaRPr>
                    </a:p>
                  </a:txBody>
                  <a:tcPr anchor="ctr">
                    <a:lnL>
                      <a:noFill/>
                    </a:lnL>
                    <a:lnR>
                      <a:noFill/>
                    </a:lnR>
                    <a:lnT>
                      <a:noFill/>
                    </a:lnT>
                    <a:lnB>
                      <a:noFill/>
                    </a:lnB>
                    <a:noFill/>
                  </a:tcPr>
                </a:tc>
                <a:tc>
                  <a:txBody>
                    <a:bodyPr/>
                    <a:lstStyle/>
                    <a:p>
                      <a:pPr>
                        <a:buNone/>
                      </a:pPr>
                      <a:r>
                        <a:rPr lang="en-US" b="1" dirty="0">
                          <a:solidFill>
                            <a:schemeClr val="bg1"/>
                          </a:solidFill>
                        </a:rPr>
                        <a:t>Precision</a:t>
                      </a:r>
                    </a:p>
                  </a:txBody>
                  <a:tcPr anchor="ctr">
                    <a:lnL>
                      <a:noFill/>
                    </a:lnL>
                    <a:lnR>
                      <a:noFill/>
                    </a:lnR>
                    <a:lnT>
                      <a:noFill/>
                    </a:lnT>
                    <a:lnB>
                      <a:noFill/>
                    </a:lnB>
                    <a:noFill/>
                  </a:tcPr>
                </a:tc>
                <a:tc>
                  <a:txBody>
                    <a:bodyPr/>
                    <a:lstStyle/>
                    <a:p>
                      <a:pPr>
                        <a:buNone/>
                      </a:pPr>
                      <a:r>
                        <a:rPr lang="en-US" b="1" dirty="0">
                          <a:solidFill>
                            <a:schemeClr val="bg1"/>
                          </a:solidFill>
                        </a:rPr>
                        <a:t>Recall</a:t>
                      </a:r>
                    </a:p>
                  </a:txBody>
                  <a:tcPr anchor="ctr">
                    <a:lnL>
                      <a:noFill/>
                    </a:lnL>
                    <a:lnR>
                      <a:noFill/>
                    </a:lnR>
                    <a:lnT>
                      <a:noFill/>
                    </a:lnT>
                    <a:lnB>
                      <a:noFill/>
                    </a:lnB>
                    <a:noFill/>
                  </a:tcPr>
                </a:tc>
                <a:extLst>
                  <a:ext uri="{0D108BD9-81ED-4DB2-BD59-A6C34878D82A}">
                    <a16:rowId xmlns:a16="http://schemas.microsoft.com/office/drawing/2014/main" val="714259984"/>
                  </a:ext>
                </a:extLst>
              </a:tr>
              <a:tr h="706595">
                <a:tc>
                  <a:txBody>
                    <a:bodyPr/>
                    <a:lstStyle/>
                    <a:p>
                      <a:pPr>
                        <a:buNone/>
                      </a:pPr>
                      <a:r>
                        <a:rPr lang="en-US" b="1" dirty="0"/>
                        <a:t>FPN + ResNet50</a:t>
                      </a:r>
                      <a:endParaRPr lang="en-US" dirty="0"/>
                    </a:p>
                  </a:txBody>
                  <a:tcPr anchor="ctr">
                    <a:lnL>
                      <a:noFill/>
                    </a:lnL>
                    <a:lnR>
                      <a:noFill/>
                    </a:lnR>
                    <a:lnT>
                      <a:noFill/>
                    </a:lnT>
                    <a:lnB>
                      <a:noFill/>
                    </a:lnB>
                    <a:noFill/>
                  </a:tcPr>
                </a:tc>
                <a:tc>
                  <a:txBody>
                    <a:bodyPr/>
                    <a:lstStyle/>
                    <a:p>
                      <a:pPr>
                        <a:buNone/>
                      </a:pPr>
                      <a:r>
                        <a:rPr lang="he-IL" dirty="0"/>
                        <a:t>25</a:t>
                      </a:r>
                      <a:endParaRPr lang="en-IL" dirty="0"/>
                    </a:p>
                  </a:txBody>
                  <a:tcPr anchor="ctr">
                    <a:lnL>
                      <a:noFill/>
                    </a:lnL>
                    <a:lnR>
                      <a:noFill/>
                    </a:lnR>
                    <a:lnT>
                      <a:noFill/>
                    </a:lnT>
                    <a:lnB>
                      <a:noFill/>
                    </a:lnB>
                    <a:noFill/>
                  </a:tcPr>
                </a:tc>
                <a:tc>
                  <a:txBody>
                    <a:bodyPr/>
                    <a:lstStyle/>
                    <a:p>
                      <a:pPr>
                        <a:buNone/>
                      </a:pPr>
                      <a:r>
                        <a:rPr lang="he-IL" dirty="0"/>
                        <a:t>0.2785</a:t>
                      </a:r>
                      <a:endParaRPr lang="en-IL" dirty="0"/>
                    </a:p>
                  </a:txBody>
                  <a:tcPr anchor="ctr">
                    <a:lnL>
                      <a:noFill/>
                    </a:lnL>
                    <a:lnR>
                      <a:noFill/>
                    </a:lnR>
                    <a:lnT>
                      <a:noFill/>
                    </a:lnT>
                    <a:lnB>
                      <a:noFill/>
                    </a:lnB>
                    <a:noFill/>
                  </a:tcPr>
                </a:tc>
                <a:tc>
                  <a:txBody>
                    <a:bodyPr/>
                    <a:lstStyle/>
                    <a:p>
                      <a:pPr>
                        <a:buNone/>
                      </a:pPr>
                      <a:r>
                        <a:rPr lang="he-IL" dirty="0"/>
                        <a:t>0.2376</a:t>
                      </a:r>
                      <a:endParaRPr lang="en-IL" dirty="0"/>
                    </a:p>
                  </a:txBody>
                  <a:tcPr anchor="ctr">
                    <a:lnL>
                      <a:noFill/>
                    </a:lnL>
                    <a:lnR>
                      <a:noFill/>
                    </a:lnR>
                    <a:lnT>
                      <a:noFill/>
                    </a:lnT>
                    <a:lnB>
                      <a:noFill/>
                    </a:lnB>
                    <a:noFill/>
                  </a:tcPr>
                </a:tc>
                <a:tc>
                  <a:txBody>
                    <a:bodyPr/>
                    <a:lstStyle/>
                    <a:p>
                      <a:pPr>
                        <a:buNone/>
                      </a:pPr>
                      <a:r>
                        <a:rPr lang="he-IL" dirty="0"/>
                        <a:t>0.4169</a:t>
                      </a:r>
                      <a:endParaRPr lang="en-IL" dirty="0"/>
                    </a:p>
                  </a:txBody>
                  <a:tcPr anchor="ctr">
                    <a:lnL>
                      <a:noFill/>
                    </a:lnL>
                    <a:lnR>
                      <a:noFill/>
                    </a:lnR>
                    <a:lnT>
                      <a:noFill/>
                    </a:lnT>
                    <a:lnB>
                      <a:noFill/>
                    </a:lnB>
                    <a:noFill/>
                  </a:tcPr>
                </a:tc>
                <a:tc>
                  <a:txBody>
                    <a:bodyPr/>
                    <a:lstStyle/>
                    <a:p>
                      <a:pPr>
                        <a:buNone/>
                      </a:pPr>
                      <a:r>
                        <a:rPr lang="he-IL" dirty="0"/>
                        <a:t>0.7869</a:t>
                      </a:r>
                      <a:endParaRPr lang="en-IL" dirty="0"/>
                    </a:p>
                  </a:txBody>
                  <a:tcPr anchor="ctr">
                    <a:lnL>
                      <a:noFill/>
                    </a:lnL>
                    <a:lnR>
                      <a:noFill/>
                    </a:lnR>
                    <a:lnT>
                      <a:noFill/>
                    </a:lnT>
                    <a:lnB>
                      <a:noFill/>
                    </a:lnB>
                    <a:noFill/>
                  </a:tcPr>
                </a:tc>
                <a:tc>
                  <a:txBody>
                    <a:bodyPr/>
                    <a:lstStyle/>
                    <a:p>
                      <a:pPr>
                        <a:buNone/>
                      </a:pPr>
                      <a:r>
                        <a:rPr lang="he-IL" dirty="0"/>
                        <a:t>0.8459</a:t>
                      </a:r>
                      <a:endParaRPr lang="en-IL" dirty="0"/>
                    </a:p>
                  </a:txBody>
                  <a:tcPr anchor="ctr">
                    <a:lnL>
                      <a:noFill/>
                    </a:lnL>
                    <a:lnR>
                      <a:noFill/>
                    </a:lnR>
                    <a:lnT>
                      <a:noFill/>
                    </a:lnT>
                    <a:lnB>
                      <a:noFill/>
                    </a:lnB>
                    <a:noFill/>
                  </a:tcPr>
                </a:tc>
                <a:extLst>
                  <a:ext uri="{0D108BD9-81ED-4DB2-BD59-A6C34878D82A}">
                    <a16:rowId xmlns:a16="http://schemas.microsoft.com/office/drawing/2014/main" val="1048915687"/>
                  </a:ext>
                </a:extLst>
              </a:tr>
            </a:tbl>
          </a:graphicData>
        </a:graphic>
      </p:graphicFrame>
      <p:pic>
        <p:nvPicPr>
          <p:cNvPr id="2" name="Picture 1">
            <a:extLst>
              <a:ext uri="{FF2B5EF4-FFF2-40B4-BE49-F238E27FC236}">
                <a16:creationId xmlns:a16="http://schemas.microsoft.com/office/drawing/2014/main" id="{B2441C4E-BCF5-72CC-AEEE-E31A6B17421B}"/>
              </a:ext>
            </a:extLst>
          </p:cNvPr>
          <p:cNvPicPr>
            <a:picLocks noChangeAspect="1"/>
          </p:cNvPicPr>
          <p:nvPr/>
        </p:nvPicPr>
        <p:blipFill>
          <a:blip r:embed="rId2"/>
          <a:srcRect l="12834" r="25362"/>
          <a:stretch>
            <a:fillRect/>
          </a:stretch>
        </p:blipFill>
        <p:spPr>
          <a:xfrm>
            <a:off x="9443633" y="-1554"/>
            <a:ext cx="2738988"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Tree>
    <p:extLst>
      <p:ext uri="{BB962C8B-B14F-4D97-AF65-F5344CB8AC3E}">
        <p14:creationId xmlns:p14="http://schemas.microsoft.com/office/powerpoint/2010/main" val="1453509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CD219-F13F-6B78-C320-56D7165FD7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6F28FC-E03F-6ADA-CEF7-6AE8D01A1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71108479-2331-B5CF-971E-2E6BA8AD56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7B602933-DC4A-382D-D29F-975F5DC9D1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8F71C9-8148-6D6E-14B7-D11ADC05C1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EAE4DA-0333-BEBA-2E64-D9646999CA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15A3D3F-6CC5-779E-F9E3-4D892D8AC4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58DC75-9F37-9239-A692-796DF1A51A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3DAECAC-57B7-7102-B2FD-E873F50D54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9889FE-C5B9-3FFE-2168-92D4B4CB07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DE5A90-414F-546A-9CD6-387C552B4C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C9E14A2-1DE7-6122-406F-29DDB1AA6E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557315F-22E6-4157-9A36-E11C8AB3B8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A1F43FF-BC23-37C3-44BD-C32620B04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1829902-3090-509D-36B2-D5FF3662A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FEAAE8-8781-AB00-6356-C1A942DF1A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1F2CD98-9939-9482-0D16-486F3ECD94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70BB223-E7D1-6D9F-743B-FBC3521E27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22BB01A-F319-5E58-30ED-44312314F0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2FE083F-D9AF-3D3F-A80A-BBC3F4CBF5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A9365F-5AA6-37F0-811D-2FCB89AC82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B49BABF-7559-CFD9-670E-FB327C9830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CC05D5C-2437-6530-CE3C-05D3AAF3FF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3EFE5CB-C607-6920-CB7C-3E845C65AC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A026FDB-BEB5-458A-18C8-A69DB9C5D6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4B53D97-F0AC-4D8B-CE4D-046037C25E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DFD549C-D58E-0DD4-B1CD-F006005A38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52DED49-DB9C-E185-CE53-08ED0A65C0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4C23157-E457-384A-138C-99CB45D13A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C56E023-031A-0D2E-C5DB-58BF665A2E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2D405E3-D6D1-8D8F-1253-9AF9CDF9EE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CEF4BC5-65CB-762B-C27F-8C9081FA4F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0A99260-BDC5-D068-549E-C2575876A8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E14D027-A78B-655B-D802-13615B26D0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E08FC36D-42B3-04AC-53F4-CBF0332EE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F58DFB7F-5970-4DBE-D21A-E5E6253B419B}"/>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05304641-D515-9A89-B107-CE8190B30444}"/>
              </a:ext>
            </a:extLst>
          </p:cNvPr>
          <p:cNvSpPr txBox="1">
            <a:spLocks/>
          </p:cNvSpPr>
          <p:nvPr/>
        </p:nvSpPr>
        <p:spPr>
          <a:xfrm>
            <a:off x="557064" y="-1107767"/>
            <a:ext cx="7260194" cy="345100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4400" b="1" dirty="0">
                <a:latin typeface="Arial" panose="020B0604020202020204" pitchFamily="34" charset="0"/>
                <a:cs typeface="Arial" panose="020B0604020202020204" pitchFamily="34" charset="0"/>
              </a:rPr>
              <a:t>Automated Wound Analysis from Images</a:t>
            </a:r>
            <a:br>
              <a:rPr lang="en-US" sz="3400" dirty="0"/>
            </a:br>
            <a:endParaRPr lang="LID4096" sz="3400" dirty="0"/>
          </a:p>
        </p:txBody>
      </p:sp>
      <p:sp>
        <p:nvSpPr>
          <p:cNvPr id="6" name="Title 5">
            <a:extLst>
              <a:ext uri="{FF2B5EF4-FFF2-40B4-BE49-F238E27FC236}">
                <a16:creationId xmlns:a16="http://schemas.microsoft.com/office/drawing/2014/main" id="{51E4D501-D3DD-1BB4-C6B8-2599D4CFCD3B}"/>
              </a:ext>
            </a:extLst>
          </p:cNvPr>
          <p:cNvSpPr>
            <a:spLocks noGrp="1"/>
          </p:cNvSpPr>
          <p:nvPr>
            <p:ph type="ctrTitle"/>
          </p:nvPr>
        </p:nvSpPr>
        <p:spPr>
          <a:xfrm>
            <a:off x="155811" y="2509846"/>
            <a:ext cx="5744554" cy="2460770"/>
          </a:xfrm>
        </p:spPr>
        <p:txBody>
          <a:bodyPr>
            <a:normAutofit/>
          </a:bodyPr>
          <a:lstStyle/>
          <a:p>
            <a:br>
              <a:rPr lang="en-US" sz="1600" dirty="0"/>
            </a:br>
            <a:br>
              <a:rPr lang="en-US" sz="1600" dirty="0"/>
            </a:br>
            <a:r>
              <a:rPr lang="en-US" sz="1800" dirty="0">
                <a:latin typeface="Arial" panose="020B0604020202020204" pitchFamily="34" charset="0"/>
                <a:cs typeface="Arial" panose="020B0604020202020204" pitchFamily="34" charset="0"/>
              </a:rPr>
              <a:t>We develop a deep learning pipeline for automatic wound assessment from clinical images. </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The system combines segmentation-based localization with multi-task classification to extract key clinical attributes such as exudate type, exudate amount, tissue color, and wound grade.</a:t>
            </a:r>
            <a:endParaRPr lang="LID4096"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3203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4C9B5B-D2DE-ED29-36A2-AE5068D81B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669CDF5-572E-8C3D-77E6-6E77A8F79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34513258-4FC7-BC10-DF07-C6655C7D7C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42CC0E96-B044-5169-53BF-A1E9E16D5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30C4B0A-1AE8-EC9A-8860-B463E97EE3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A34BE6E-1D00-6AB1-1FD4-12A007503B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E8E996-7679-CE8D-D2B5-A44E1E8A50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589B683-330A-9BB0-B2EB-7A79C64150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1B9534F-F132-DD45-BAE1-0569967463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A5B404-65AC-89B9-F534-A52445E836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62FA7F-5A74-65FA-6154-F7C781E9BA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27BC9E6-6B3C-F87C-A59D-E60BFAF3BF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C3ABF3-48FA-16EF-9039-F9DD61F274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97A83AA-A54D-C5B4-11DB-76F5E36869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F8E547-4C46-E29D-E409-C0E0A60EEE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6A17425-98B7-243A-52C7-C099575DD8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D2466C2-C780-3C4F-706C-8B9CE49A3C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40BB9ED-FB93-5AE1-F6BA-21A2EBBED0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3EBBD6E-AD0E-E9D1-5CC7-AE606D036C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341A2C7-FAD3-CD0C-5055-25928E931D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3B60A1-621F-E894-8D36-706A81253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5CA634-5171-53AC-0F1D-138B3EEA39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C3122B-CFB6-02AE-FAF6-CB348C5817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9C2FA65-316D-33EF-8972-7D15944FD4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AC4D68-5EED-DBBF-F08B-98C1DD65D8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3EBBF48-1BDB-A681-A9E5-E56251939B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D32C713-5E82-6441-5358-50CB72E99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80A87CE-165D-048A-D958-836BEE2177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FFF389D-85D6-F333-189C-FDB778B54C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51651B0-0A5F-FDAB-77C8-3283BBA5A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B6988C4-D3A8-9CC9-9A5F-3BB5525BFE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BD55C5F-0077-9CF8-BF0B-2697D8BB97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DD885C6-C282-D5E6-FDEB-3559D707FB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DAC454-B360-76B2-EFF9-B900440831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592E000A-ED51-832C-DFA4-947B9F60D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FBCA9A04-4164-02AA-D5EF-C4B744824894}"/>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B83BD71E-6C32-23D1-E0E9-CFFBE0F52D36}"/>
              </a:ext>
            </a:extLst>
          </p:cNvPr>
          <p:cNvSpPr txBox="1">
            <a:spLocks/>
          </p:cNvSpPr>
          <p:nvPr/>
        </p:nvSpPr>
        <p:spPr>
          <a:xfrm>
            <a:off x="557064" y="-1107767"/>
            <a:ext cx="7260194" cy="345100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4400" b="1" dirty="0">
                <a:latin typeface="Arial" panose="020B0604020202020204" pitchFamily="34" charset="0"/>
                <a:cs typeface="Arial" panose="020B0604020202020204" pitchFamily="34" charset="0"/>
              </a:rPr>
              <a:t>Automated Wound Analysis from Images</a:t>
            </a:r>
            <a:br>
              <a:rPr lang="en-US" sz="3400" dirty="0"/>
            </a:br>
            <a:endParaRPr lang="LID4096" sz="3400" dirty="0"/>
          </a:p>
        </p:txBody>
      </p:sp>
      <p:sp>
        <p:nvSpPr>
          <p:cNvPr id="6" name="Title 5">
            <a:extLst>
              <a:ext uri="{FF2B5EF4-FFF2-40B4-BE49-F238E27FC236}">
                <a16:creationId xmlns:a16="http://schemas.microsoft.com/office/drawing/2014/main" id="{484F607C-17C4-197D-289A-994CB79E5FC0}"/>
              </a:ext>
            </a:extLst>
          </p:cNvPr>
          <p:cNvSpPr>
            <a:spLocks noGrp="1"/>
          </p:cNvSpPr>
          <p:nvPr>
            <p:ph type="ctrTitle"/>
          </p:nvPr>
        </p:nvSpPr>
        <p:spPr>
          <a:xfrm>
            <a:off x="105915" y="3286435"/>
            <a:ext cx="5936467" cy="2585530"/>
          </a:xfrm>
        </p:spPr>
        <p:txBody>
          <a:bodyPr>
            <a:normAutofit fontScale="90000"/>
          </a:bodyPr>
          <a:lstStyle/>
          <a:p>
            <a:r>
              <a:rPr lang="en-US" sz="2000" dirty="0">
                <a:latin typeface="Arial" panose="020B0604020202020204" pitchFamily="34" charset="0"/>
                <a:cs typeface="Arial" panose="020B0604020202020204" pitchFamily="34" charset="0"/>
              </a:rPr>
              <a:t>• Wound images → segmentation → </a:t>
            </a:r>
            <a:r>
              <a:rPr lang="en-US" sz="2000" b="1" dirty="0">
                <a:latin typeface="Arial" panose="020B0604020202020204" pitchFamily="34" charset="0"/>
                <a:cs typeface="Arial" panose="020B0604020202020204" pitchFamily="34" charset="0"/>
              </a:rPr>
              <a:t>focused ROI</a:t>
            </a:r>
            <a:br>
              <a:rPr lang="he-IL"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ResNet-18</a:t>
            </a:r>
            <a:r>
              <a:rPr lang="en-US" sz="2000" dirty="0">
                <a:latin typeface="Arial" panose="020B0604020202020204" pitchFamily="34" charset="0"/>
                <a:cs typeface="Arial" panose="020B0604020202020204" pitchFamily="34" charset="0"/>
              </a:rPr>
              <a:t> feature extraction</a:t>
            </a:r>
            <a:br>
              <a:rPr lang="he-IL"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Multi-task prediction (exudate, amount, color, grade)</a:t>
            </a:r>
            <a:br>
              <a:rPr lang="he-IL"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Handles class imbalance (</a:t>
            </a:r>
            <a:r>
              <a:rPr lang="en-US" sz="2000" b="1" dirty="0">
                <a:latin typeface="Arial" panose="020B0604020202020204" pitchFamily="34" charset="0"/>
                <a:cs typeface="Arial" panose="020B0604020202020204" pitchFamily="34" charset="0"/>
              </a:rPr>
              <a:t>weighted loss</a:t>
            </a:r>
            <a:r>
              <a:rPr lang="en-US" sz="2000" dirty="0">
                <a:latin typeface="Arial" panose="020B0604020202020204" pitchFamily="34" charset="0"/>
                <a:cs typeface="Arial" panose="020B0604020202020204" pitchFamily="34" charset="0"/>
              </a:rPr>
              <a:t>)</a:t>
            </a:r>
            <a:br>
              <a:rPr lang="he-IL"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Goal: automated wound assessment</a:t>
            </a:r>
            <a:endParaRPr lang="LID4096"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2878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4D5531-112B-C205-E97E-E57B06A0E17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FF9235-B440-5BD9-9624-98B034F92D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25BC540F-0992-6352-AE3F-CD91C95FA2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58656705-3D02-369B-8D5D-DD4B6987DA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3A187D-ECFA-0031-0DE6-00BCAECC01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2BF5BA-4FA4-1CF2-5898-A1EDC8A6B0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5121FF7-1084-9806-9B56-EAE74BAAC7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1EBDA7F-2A52-BCFB-45D8-6A53C2B3AA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E583B64-BA10-6528-3E1F-3FCD255BF1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159FEB-0C81-29E8-C8C3-122968AF51F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3BCA7D-7B63-E3D2-B713-CD16230EB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4A89D14-6E60-B4A2-FAAD-565B344589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476AEBC-5DD7-F43B-5BB2-1502900A10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A80816E-8372-FE1D-FCF1-C577ABF9F2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F1D9341-8BCA-36D5-ABDE-27EF1EFA12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52371C5-8C94-8AE9-7A3D-BF22FCC07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28227DD-1DC1-ED65-9F0C-C783AE08E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BDB6386-E67C-C499-17CA-99AEF24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E44D67B-9CB1-F3E9-EFB3-0B63F7ADFF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35F375C-7333-B2BF-54F9-B9D91C6301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66C2E8-AF61-8ABA-7A58-C628E00D3C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A2CBE88-F546-FC74-0E64-EBCD5B556F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09F9A5B-28F2-95AE-D294-711F5222E1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F731A81-4AD6-44D3-AB6D-C03030B45D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1E0A02A-DC1C-B48E-87C9-FF4D7E16CE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8CF0100-3ABC-27B4-CE28-50F0A91A92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94FBC-08BF-BBDF-E4C4-6EB76626FB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E432CB-5DA9-6FE1-702B-5DA70A28AE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8948CAF-E187-49D9-8C0B-ED2D0D13ED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C58B581-C3EF-05A6-E879-A7FBC46A21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D3FE2F7-7A59-3B47-2DF7-42DAD0CC92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162279A-8458-C98F-3A3D-B49D552B505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C7A9747-945C-72A4-1961-7937A46C4D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905FF16-D472-83A4-39B5-26AF12E1E4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398AF5BA-01AC-F970-5C35-EFD8FF4811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0446B3E4-80EA-6CB0-CD48-0A44910BBE4A}"/>
              </a:ext>
            </a:extLst>
          </p:cNvPr>
          <p:cNvPicPr>
            <a:picLocks noChangeAspect="1"/>
          </p:cNvPicPr>
          <p:nvPr/>
        </p:nvPicPr>
        <p:blipFill>
          <a:blip r:embed="rId2"/>
          <a:srcRect l="12834" r="25362"/>
          <a:stretch>
            <a:fillRect/>
          </a:stretch>
        </p:blipFill>
        <p:spPr>
          <a:xfrm>
            <a:off x="7229226" y="-1554"/>
            <a:ext cx="4953395"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500D9F1F-B12F-817F-5DBA-4AC818A6AFB9}"/>
              </a:ext>
            </a:extLst>
          </p:cNvPr>
          <p:cNvSpPr txBox="1">
            <a:spLocks/>
          </p:cNvSpPr>
          <p:nvPr/>
        </p:nvSpPr>
        <p:spPr>
          <a:xfrm>
            <a:off x="167023" y="-1626070"/>
            <a:ext cx="6812999" cy="344789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3700" b="1" dirty="0">
                <a:latin typeface="Arial" panose="020B0604020202020204" pitchFamily="34" charset="0"/>
                <a:cs typeface="Arial" panose="020B0604020202020204" pitchFamily="34" charset="0"/>
              </a:rPr>
              <a:t>Automated Wound Analysis from Images - Structure</a:t>
            </a:r>
            <a:br>
              <a:rPr lang="en-US" sz="3400" dirty="0"/>
            </a:br>
            <a:endParaRPr lang="LID4096" sz="3400" dirty="0"/>
          </a:p>
        </p:txBody>
      </p:sp>
      <p:pic>
        <p:nvPicPr>
          <p:cNvPr id="9" name="Picture 8">
            <a:extLst>
              <a:ext uri="{FF2B5EF4-FFF2-40B4-BE49-F238E27FC236}">
                <a16:creationId xmlns:a16="http://schemas.microsoft.com/office/drawing/2014/main" id="{85F3F02D-B2CD-3A87-577D-FCE7C4CEB6F0}"/>
              </a:ext>
            </a:extLst>
          </p:cNvPr>
          <p:cNvPicPr>
            <a:picLocks noChangeAspect="1"/>
          </p:cNvPicPr>
          <p:nvPr/>
        </p:nvPicPr>
        <p:blipFill>
          <a:blip r:embed="rId3"/>
          <a:stretch>
            <a:fillRect/>
          </a:stretch>
        </p:blipFill>
        <p:spPr>
          <a:xfrm>
            <a:off x="0" y="1545357"/>
            <a:ext cx="7229226" cy="5312643"/>
          </a:xfrm>
          <a:prstGeom prst="rect">
            <a:avLst/>
          </a:prstGeom>
        </p:spPr>
      </p:pic>
    </p:spTree>
    <p:extLst>
      <p:ext uri="{BB962C8B-B14F-4D97-AF65-F5344CB8AC3E}">
        <p14:creationId xmlns:p14="http://schemas.microsoft.com/office/powerpoint/2010/main" val="2861195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A7658F-2F7B-F16C-C324-FB819A4373B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5E40426-7E36-5FD5-575B-F1B423FC8EB4}"/>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3BB4496A-0356-C104-A41C-6D1BC34E1502}"/>
              </a:ext>
            </a:extLst>
          </p:cNvPr>
          <p:cNvSpPr txBox="1">
            <a:spLocks/>
          </p:cNvSpPr>
          <p:nvPr/>
        </p:nvSpPr>
        <p:spPr>
          <a:xfrm>
            <a:off x="167023" y="-1626070"/>
            <a:ext cx="6812999" cy="3447898"/>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en-US" sz="3700" b="1" dirty="0">
                <a:latin typeface="Arial" panose="020B0604020202020204" pitchFamily="34" charset="0"/>
                <a:cs typeface="Arial" panose="020B0604020202020204" pitchFamily="34" charset="0"/>
              </a:rPr>
              <a:t>Automated Wound Analysis from Images - Results</a:t>
            </a:r>
            <a:br>
              <a:rPr lang="en-US" sz="3400" dirty="0"/>
            </a:br>
            <a:endParaRPr lang="LID4096" sz="3400" dirty="0"/>
          </a:p>
        </p:txBody>
      </p:sp>
      <p:sp>
        <p:nvSpPr>
          <p:cNvPr id="2" name="Title 1">
            <a:extLst>
              <a:ext uri="{FF2B5EF4-FFF2-40B4-BE49-F238E27FC236}">
                <a16:creationId xmlns:a16="http://schemas.microsoft.com/office/drawing/2014/main" id="{DBEF4E5B-EB7C-957A-1137-4EE779C1B33E}"/>
              </a:ext>
            </a:extLst>
          </p:cNvPr>
          <p:cNvSpPr>
            <a:spLocks noGrp="1"/>
          </p:cNvSpPr>
          <p:nvPr>
            <p:ph type="title"/>
          </p:nvPr>
        </p:nvSpPr>
        <p:spPr>
          <a:xfrm>
            <a:off x="1824934" y="2045113"/>
            <a:ext cx="10501177" cy="1401231"/>
          </a:xfrm>
        </p:spPr>
        <p:txBody>
          <a:bodyPr/>
          <a:lstStyle/>
          <a:p>
            <a:r>
              <a:rPr lang="en-US" sz="4800" b="1" dirty="0"/>
              <a:t>TBD</a:t>
            </a:r>
            <a:endParaRPr lang="LID4096" b="1" dirty="0"/>
          </a:p>
        </p:txBody>
      </p:sp>
    </p:spTree>
    <p:extLst>
      <p:ext uri="{BB962C8B-B14F-4D97-AF65-F5344CB8AC3E}">
        <p14:creationId xmlns:p14="http://schemas.microsoft.com/office/powerpoint/2010/main" val="2941865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367527-D7BF-9832-BC79-9B4E9D0D187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207A441-B3EB-1856-6A4B-DA1123F24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583BFFF1-1DB9-E7E5-F646-939BF18D75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7C507EF3-5496-8816-A976-9C497EF725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6CE7253-5678-7FFB-09EA-A8282D4105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8EF21D1-D14F-B08B-E2D2-AFD5AA9949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65A676-B1E8-7679-E787-0AAED842B8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EE998C-CF93-93BC-675B-5CFFCD172E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BDF001B-0E6B-FD08-D607-56C3BD83FC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4E653A6-94F9-39E8-B347-F03A374A0E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36563F-82FF-CDA0-1654-054EE62041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EBFFAAD-18B5-8540-EA9E-1C29A6ED46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2155DF-1A9D-FEC2-3D31-D02A91D49E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31D68EB-41B3-35A4-B00A-84E3078657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1A73E33-AE42-04E0-D339-51FABFE11F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C8E8EE7-567F-883E-380D-EC1402D133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6080B88-E7FF-6773-B42F-6791388E4A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BCCCCDC-923C-E4A4-BFEE-44E4DD9666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47965BD-86F6-B6C1-0CB8-32DAC5A0A0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193D950-8975-25F9-1FB2-DE8A417426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43AA6DB-25D1-C4F8-71C8-B3D662BD73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3E1DC3-3396-203C-9536-1DE3D8B1C1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C2E79B5-999C-797C-2D5A-A668A5F515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7BC111-240F-D1D3-B718-5EB373857A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BB5BDC-9EB7-2B2A-5F15-C3FF5024D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53EEA84-8523-921B-0E7F-07EAE9DF1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D9290C6-BC93-E989-D1E4-50B17F78D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E3E5DD-FB4E-83BF-084F-F59C338A42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A4F6B-E10F-C433-FE7D-7B72459833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4F3E270-B23F-20FB-14FE-6311EE0646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EDDF449-D4FB-CB1C-3D04-7BFAACAC46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07499A8-9014-EB97-40DC-EB36CB0EF2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5DA52E9-65B0-793A-BFEC-C8047EB498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1D01B27-3806-145A-5A67-FC6B458FC0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E26C78C-EEAA-31A1-6569-6186982EB937}"/>
              </a:ext>
            </a:extLst>
          </p:cNvPr>
          <p:cNvSpPr>
            <a:spLocks noGrp="1"/>
          </p:cNvSpPr>
          <p:nvPr>
            <p:ph type="ctrTitle"/>
          </p:nvPr>
        </p:nvSpPr>
        <p:spPr>
          <a:xfrm>
            <a:off x="1251503" y="3361522"/>
            <a:ext cx="1414932" cy="798226"/>
          </a:xfrm>
        </p:spPr>
        <p:txBody>
          <a:bodyPr>
            <a:noAutofit/>
          </a:bodyPr>
          <a:lstStyle/>
          <a:p>
            <a:pPr>
              <a:lnSpc>
                <a:spcPct val="90000"/>
              </a:lnSpc>
            </a:pPr>
            <a:r>
              <a:rPr lang="en-US" sz="4800" b="1" dirty="0"/>
              <a:t>TBD</a:t>
            </a:r>
            <a:endParaRPr lang="LID4096" sz="4800" b="1" dirty="0"/>
          </a:p>
        </p:txBody>
      </p:sp>
      <p:sp>
        <p:nvSpPr>
          <p:cNvPr id="43" name="Right Triangle 42">
            <a:extLst>
              <a:ext uri="{FF2B5EF4-FFF2-40B4-BE49-F238E27FC236}">
                <a16:creationId xmlns:a16="http://schemas.microsoft.com/office/drawing/2014/main" id="{B20B86FD-104E-9F20-5DF8-A9CB8AC4C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2" y="260044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8E68DD70-207A-539C-77EC-B10736999ED9}"/>
              </a:ext>
            </a:extLst>
          </p:cNvPr>
          <p:cNvPicPr>
            <a:picLocks noChangeAspect="1"/>
          </p:cNvPicPr>
          <p:nvPr/>
        </p:nvPicPr>
        <p:blipFill>
          <a:blip r:embed="rId2"/>
          <a:srcRect l="12834" r="25362"/>
          <a:stretch>
            <a:fillRect/>
          </a:stretch>
        </p:blipFill>
        <p:spPr>
          <a:xfrm>
            <a:off x="6062050" y="-1554"/>
            <a:ext cx="6120571" cy="685799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
        <p:nvSpPr>
          <p:cNvPr id="5" name="Title 1">
            <a:extLst>
              <a:ext uri="{FF2B5EF4-FFF2-40B4-BE49-F238E27FC236}">
                <a16:creationId xmlns:a16="http://schemas.microsoft.com/office/drawing/2014/main" id="{1D2C7105-2332-9173-F97E-F8ED3DA74555}"/>
              </a:ext>
            </a:extLst>
          </p:cNvPr>
          <p:cNvSpPr txBox="1">
            <a:spLocks/>
          </p:cNvSpPr>
          <p:nvPr/>
        </p:nvSpPr>
        <p:spPr>
          <a:xfrm>
            <a:off x="36718" y="-1816507"/>
            <a:ext cx="7019907" cy="3663687"/>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2"/>
                </a:solidFill>
                <a:latin typeface="+mj-lt"/>
                <a:ea typeface="+mj-ea"/>
                <a:cs typeface="+mj-cs"/>
              </a:defRPr>
            </a:lvl1pPr>
          </a:lstStyle>
          <a:p>
            <a:pPr>
              <a:lnSpc>
                <a:spcPct val="90000"/>
              </a:lnSpc>
            </a:pPr>
            <a:r>
              <a:rPr lang="LID4096" altLang="LID4096" sz="4400" b="1" dirty="0">
                <a:solidFill>
                  <a:schemeClr val="tx1"/>
                </a:solidFill>
                <a:latin typeface="Arial" panose="020B0604020202020204" pitchFamily="34" charset="0"/>
              </a:rPr>
              <a:t>Application Deployment</a:t>
            </a:r>
            <a:br>
              <a:rPr lang="en-US" sz="3400" dirty="0"/>
            </a:br>
            <a:endParaRPr lang="LID4096" sz="3400" dirty="0"/>
          </a:p>
        </p:txBody>
      </p:sp>
    </p:spTree>
    <p:extLst>
      <p:ext uri="{BB962C8B-B14F-4D97-AF65-F5344CB8AC3E}">
        <p14:creationId xmlns:p14="http://schemas.microsoft.com/office/powerpoint/2010/main" val="3192932246"/>
      </p:ext>
    </p:extLst>
  </p:cSld>
  <p:clrMapOvr>
    <a:masterClrMapping/>
  </p:clrMapOvr>
</p:sld>
</file>

<file path=ppt/theme/theme1.xml><?xml version="1.0" encoding="utf-8"?>
<a:theme xmlns:a="http://schemas.openxmlformats.org/drawingml/2006/main" name="CosineVTI">
  <a:themeElements>
    <a:clrScheme name="Custom 133">
      <a:dk1>
        <a:sysClr val="windowText" lastClr="000000"/>
      </a:dk1>
      <a:lt1>
        <a:sysClr val="window" lastClr="FFFFFF"/>
      </a:lt1>
      <a:dk2>
        <a:srgbClr val="2A2735"/>
      </a:dk2>
      <a:lt2>
        <a:srgbClr val="EEEEEE"/>
      </a:lt2>
      <a:accent1>
        <a:srgbClr val="1EBE9B"/>
      </a:accent1>
      <a:accent2>
        <a:srgbClr val="8F99BB"/>
      </a:accent2>
      <a:accent3>
        <a:srgbClr val="FD8686"/>
      </a:accent3>
      <a:accent4>
        <a:srgbClr val="A3A3C1"/>
      </a:accent4>
      <a:accent5>
        <a:srgbClr val="7162FE"/>
      </a:accent5>
      <a:accent6>
        <a:srgbClr val="E76445"/>
      </a:accent6>
      <a:hlink>
        <a:srgbClr val="EF08F7"/>
      </a:hlink>
      <a:folHlink>
        <a:srgbClr val="8477FE"/>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575</Words>
  <Application>Microsoft Office PowerPoint</Application>
  <PresentationFormat>Widescreen</PresentationFormat>
  <Paragraphs>78</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Grandview</vt:lpstr>
      <vt:lpstr>Wingdings</vt:lpstr>
      <vt:lpstr>CosineVTI</vt:lpstr>
      <vt:lpstr>Ori Barel </vt:lpstr>
      <vt:lpstr>Throughout this project, we develop a clinical decision-support pipeline by combining deep learning for wound image analysis with structured data modeling, aiming to enable automated and clinically meaningful wound assessment at Reuth Medical Center.</vt:lpstr>
      <vt:lpstr> Image De-identification - to ensure full patient privacy   Automatic Mask Generation - using a segmentation algorithm trained on manual labels   Automated Wound Analysis from Images - linking medical records with corresponding wound images   Application Deployment - for use within Reuth Medical Center</vt:lpstr>
      <vt:lpstr>To automatically detect and blur sensitive patient information, we developed an image-segmentation model based on a UNet architecture - a widely used convolutional neural network designed for precise pixel-level predictions.</vt:lpstr>
      <vt:lpstr> Encoder-decoder structure for capturing both global context and fine details   Skip connections that preserve spatial information for accurate mask reconstruction   Custom loss combining BCEWithLogits (with positive class weighting) and Dice Loss to address class imbalance and improve overlap accuracy   Evaluation using IoU and Dice score for segmentation quality assessment   Data augmentation including flips, rotations, and color jitter to improve robustness</vt:lpstr>
      <vt:lpstr>PowerPoint Presentation</vt:lpstr>
      <vt:lpstr>PowerPoint Presentation</vt:lpstr>
      <vt:lpstr>PowerPoint Presentation</vt:lpstr>
      <vt:lpstr>PowerPoint Presentation</vt:lpstr>
      <vt:lpstr>To generate highly reliable wound segmentation masks, we trained and evaluated an FPN with a ResNet-50 backbone - a multi-scale segmentation architecture enhanced with channel-wise attention and dropout regularization for improved robustness.  </vt:lpstr>
      <vt:lpstr> ResNet-50 feature extractor pretrained on ImageNet   FPN multi-scale decoder capturing both coarse and fine-grained wound structures   Enhanced with lightweight channel-wise attention and dropout regularization to improve robustness and stability   Trained using a consistent custom loss for fair cross-model comparison (Focal Tversky, Weighted BCE, Color Contrast) </vt:lpstr>
      <vt:lpstr>PowerPoint Presentation</vt:lpstr>
      <vt:lpstr>PowerPoint Presentation</vt:lpstr>
      <vt:lpstr>PowerPoint Presentation</vt:lpstr>
      <vt:lpstr>PowerPoint Presentation</vt:lpstr>
      <vt:lpstr>PowerPoint Presentation</vt:lpstr>
      <vt:lpstr>  We develop a deep learning pipeline for automatic wound assessment from clinical images.  The system combines segmentation-based localization with multi-task classification to extract key clinical attributes such as exudate type, exudate amount, tissue color, and wound grade.</vt:lpstr>
      <vt:lpstr>• Wound images → segmentation → focused ROI  • ResNet-18 feature extraction  • Multi-task prediction (exudate, amount, color, grade)  • Handles class imbalance (weighted loss)  • Goal: automated wound assessment</vt:lpstr>
      <vt:lpstr>PowerPoint Presentation</vt:lpstr>
      <vt:lpstr>TBD</vt:lpstr>
      <vt:lpstr>TBD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אורי בראל</dc:creator>
  <cp:lastModifiedBy>אורי בראל</cp:lastModifiedBy>
  <cp:revision>3</cp:revision>
  <dcterms:created xsi:type="dcterms:W3CDTF">2025-12-01T12:42:38Z</dcterms:created>
  <dcterms:modified xsi:type="dcterms:W3CDTF">2026-03-28T12:20:53Z</dcterms:modified>
</cp:coreProperties>
</file>